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330" r:id="rId6"/>
    <p:sldId id="301" r:id="rId7"/>
    <p:sldId id="327" r:id="rId8"/>
    <p:sldId id="302" r:id="rId9"/>
    <p:sldId id="311" r:id="rId10"/>
    <p:sldId id="333" r:id="rId11"/>
    <p:sldId id="331" r:id="rId12"/>
    <p:sldId id="334" r:id="rId13"/>
    <p:sldId id="332" r:id="rId14"/>
    <p:sldId id="304" r:id="rId15"/>
    <p:sldId id="308" r:id="rId16"/>
    <p:sldId id="305" r:id="rId17"/>
    <p:sldId id="335" r:id="rId18"/>
    <p:sldId id="306" r:id="rId19"/>
    <p:sldId id="336" r:id="rId20"/>
    <p:sldId id="337" r:id="rId21"/>
    <p:sldId id="338" r:id="rId22"/>
    <p:sldId id="339" r:id="rId23"/>
    <p:sldId id="340" r:id="rId24"/>
    <p:sldId id="341" r:id="rId25"/>
    <p:sldId id="310" r:id="rId26"/>
    <p:sldId id="329" r:id="rId27"/>
    <p:sldId id="289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B08FD-8E55-4F8C-801C-2A04349DF80A}" v="186" dt="2025-12-04T17:35:13.568"/>
    <p1510:client id="{3448C305-D3C2-46CE-A8C3-DBF759D2E973}" v="61" dt="2025-12-04T18:59:56.512"/>
    <p1510:client id="{46CA7E83-F03E-4DA2-A36D-E18BBD62979C}" v="1" dt="2025-12-04T17:05:06.907"/>
    <p1510:client id="{7A03016B-58E0-4379-8ED4-8A4C795CD4B7}" v="145" dt="2025-12-04T18:50:07.319"/>
    <p1510:client id="{DD1923D7-2BCA-4781-A513-8AC9452A2D02}" v="275" dt="2025-12-04T19:29:34.5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536"/>
        <p:guide pos="3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7BE24-F2D2-05FE-2DBB-CD301747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122D8-6D1B-8116-BDF7-AE1E70098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D4CAF-497D-102F-8DD1-6C9DC0A39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D8446-C533-7BFE-FAF8-A5026CFF0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246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630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083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864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47B6-06C9-1AB3-1320-4D5858E9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2BC03-E4B2-5463-8904-0F7966B36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FE175-0B66-8B3C-4236-0EFCBEB60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71C42-78D1-E584-BCBB-40CE8B0F1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276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77D5-3A90-63D8-4AE9-E0483F71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13B78-1F35-2AD9-75FE-8A901071C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09298-001B-EDB5-AF87-543D97BCE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E87A7-F6E1-F712-25E7-21D97354C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24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555A-3A64-E7C2-5C02-ADE0972C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C9331-C553-6408-BC0D-98C4D921A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15B2E-6D2B-A9B9-935A-F3BF2C925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40735-A881-E24F-C5EB-5082FF973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441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837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285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096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9F46-2B61-4BE0-DD65-5DC53ADF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574A1-A92D-6E11-7B5F-0F75D94A1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C4194-52A2-6261-5688-8BAD8B82D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47671-1F1D-C477-7AAD-D4E2C62C3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387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087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E342D-6F77-0630-277D-FD61E2EC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0054C-3598-16A8-CF5F-81BD80B08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2F510-BD86-43CA-9B9B-314BD2FE9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6D6EA-0A2A-AABE-FD19-489E2BD0A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337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E0D6B-9547-84C3-4505-70D85169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17B47-2C92-0409-D9EA-925113430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D1728-1583-E86D-6EC2-C6E73048F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85D22-8AB5-A4D4-F165-4267BC83B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781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5112-2CFD-92E5-FDCF-8AEA5192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9145A-3C58-6879-B943-33CFC27B1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EDB4D-FD40-A4F1-2C63-47E016262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F77B2-4DB3-8717-4242-F75FF1EA5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5118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A414-B800-C06C-8ADF-002A8476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4E2CE-84C0-15C7-2F32-18B421A57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C99AA-FE10-8A23-198E-17ECFA3E2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C6270-B16A-5050-2B4B-024484B90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859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98E5D-52B4-ACCC-980B-C973627F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ADBE8-0074-4FD8-CA1C-8382A438B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50686-DD7A-6ACE-8C46-186283116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3BF11-E2D3-14AF-4943-51A06C7C2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685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D611-5178-F9F9-631F-0FC438C3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86565-6ACB-BE1F-B893-C08F72A41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76061-6DE9-EA1C-7EAA-31C648859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AD7BA-1554-1715-7149-620CEA623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093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6915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371E-E708-2C37-E6D3-3F75D407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66C87-ECB2-9E1A-4E80-7E4283C27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63D75-7117-2CBD-37FC-426CA6065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0AB77-C5B4-295C-F125-8DD6CF19B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19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zh-CN" altLang="en-US"/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/>
              <a:t>Click to edit </a:t>
            </a:r>
            <a:r>
              <a:rPr lang="en-US" altLang="zh-CN"/>
              <a:t>Text</a:t>
            </a:r>
            <a:r>
              <a:rPr lang="zh-CN" altLang="en-US"/>
              <a:t> </a:t>
            </a:r>
            <a:r>
              <a:rPr lang="en-US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zh-CN" altLang="en-US"/>
          </a:p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zh-CN" altLang="en-US"/>
          </a:p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zh-CN" altLang="en-US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5236-5DE5-4891-A7BB-B4E446392AF9}" type="datetime1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MRI Artifact detection with Fractal Dimension, Thillai Manjari T, Dr Sountharrajan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7D3C-DF12-460C-AB89-C1C69B4F8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91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9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mrita Vishwa Vidyapeetham - Wikipedia">
            <a:extLst>
              <a:ext uri="{FF2B5EF4-FFF2-40B4-BE49-F238E27FC236}">
                <a16:creationId xmlns:a16="http://schemas.microsoft.com/office/drawing/2014/main" id="{911DC034-76DA-B8E0-070C-2987EC570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203" y="-91036"/>
            <a:ext cx="2662919" cy="99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C7402-30B3-0B37-E2E2-902BB237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7D3C-DF12-460C-AB89-C1C69B4F8FB1}" type="slidenum">
              <a:rPr lang="en-IN" smtClean="0"/>
              <a:t>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134BF-A5C3-E4FE-4341-855C3190BEBE}"/>
              </a:ext>
            </a:extLst>
          </p:cNvPr>
          <p:cNvSpPr txBox="1"/>
          <p:nvPr/>
        </p:nvSpPr>
        <p:spPr>
          <a:xfrm>
            <a:off x="777464" y="1711353"/>
            <a:ext cx="9705108" cy="49859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en-US" sz="4000">
              <a:solidFill>
                <a:srgbClr val="C00000"/>
              </a:solidFill>
              <a:latin typeface="Times New Roman"/>
              <a:ea typeface="+mn-lt"/>
              <a:cs typeface="+mn-lt"/>
            </a:endParaRPr>
          </a:p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/>
                <a:ea typeface="+mn-lt"/>
                <a:cs typeface="+mn-lt"/>
              </a:rPr>
              <a:t>Enhancing Exoplanet Discovery with PCA and NMF in Astronomical Imaging</a:t>
            </a:r>
            <a:endParaRPr lang="en-US" b="1"/>
          </a:p>
          <a:p>
            <a:pPr algn="ctr"/>
            <a:r>
              <a:rPr lang="en-US" b="1" dirty="0">
                <a:solidFill>
                  <a:srgbClr val="0F253E"/>
                </a:solidFill>
                <a:latin typeface="Times New Roman"/>
                <a:ea typeface="+mn-lt"/>
                <a:cs typeface="+mn-lt"/>
              </a:rPr>
              <a:t>Exploring Linear Algebra and Vector Spaces Applications in Astronomy</a:t>
            </a:r>
            <a:endParaRPr lang="en-IN" b="1" dirty="0">
              <a:latin typeface="Times New Roman"/>
              <a:ea typeface="+mn-lt"/>
              <a:cs typeface="+mn-lt"/>
            </a:endParaRPr>
          </a:p>
          <a:p>
            <a:pPr algn="ctr"/>
            <a:endParaRPr lang="en-US" sz="3200">
              <a:solidFill>
                <a:srgbClr val="0F253E"/>
              </a:solidFill>
              <a:latin typeface="Abadi"/>
              <a:ea typeface="Calibri"/>
              <a:cs typeface="Calibri"/>
            </a:endParaRPr>
          </a:p>
          <a:p>
            <a:pPr algn="ctr"/>
            <a:endParaRPr lang="en-IN" sz="2800">
              <a:latin typeface="Times New Roman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2000" dirty="0">
                <a:latin typeface="Times New Roman"/>
                <a:ea typeface="Calibri"/>
                <a:cs typeface="Calibri"/>
              </a:rPr>
              <a:t>Members:</a:t>
            </a:r>
            <a:endParaRPr lang="en-IN">
              <a:latin typeface="Times New Roman"/>
              <a:ea typeface="Calibri"/>
              <a:cs typeface="Calibri"/>
            </a:endParaRPr>
          </a:p>
          <a:p>
            <a:pPr algn="ctr"/>
            <a:r>
              <a:rPr lang="en-IN" sz="2000" dirty="0">
                <a:latin typeface="Times New Roman"/>
                <a:ea typeface="+mn-lt"/>
                <a:cs typeface="+mn-lt"/>
              </a:rPr>
              <a:t>Bhavana-BL.SC.P2CSE25027</a:t>
            </a:r>
            <a:endParaRPr lang="en-IN">
              <a:latin typeface="Times New Roman"/>
              <a:cs typeface="Times New Roman"/>
            </a:endParaRPr>
          </a:p>
          <a:p>
            <a:pPr algn="ctr"/>
            <a:r>
              <a:rPr lang="en-IN" sz="2000" dirty="0">
                <a:latin typeface="Times New Roman"/>
                <a:ea typeface="+mn-lt"/>
                <a:cs typeface="+mn-lt"/>
              </a:rPr>
              <a:t>Nandana-BL.SC.P2CSE25012</a:t>
            </a:r>
            <a:endParaRPr lang="en-IN">
              <a:latin typeface="Times New Roman"/>
            </a:endParaRPr>
          </a:p>
          <a:p>
            <a:pPr algn="ctr"/>
            <a:endParaRPr lang="en-IN" sz="2000">
              <a:latin typeface="Calibri"/>
              <a:ea typeface="Calibri"/>
              <a:cs typeface="Calibri"/>
            </a:endParaRPr>
          </a:p>
          <a:p>
            <a:pPr algn="ctr"/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IN" sz="20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516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21E33-E506-08AF-CBE1-11E6ADDF7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25B5A-8325-51A2-9D2A-300C5BE4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9327EC-CB51-A127-26B0-26D341C2F3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1500" y="150813"/>
            <a:ext cx="10890250" cy="1417637"/>
          </a:xfrm>
        </p:spPr>
        <p:txBody>
          <a:bodyPr/>
          <a:lstStyle/>
          <a:p>
            <a:r>
              <a:rPr lang="en-US" sz="2800">
                <a:solidFill>
                  <a:srgbClr val="C00000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E9D69820-1909-FD0D-7408-F08A7429B5BD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71500" y="1575481"/>
            <a:ext cx="6086475" cy="4456112"/>
          </a:xfrm>
        </p:spPr>
        <p:txBody>
          <a:bodyPr/>
          <a:lstStyle/>
          <a:p>
            <a:pPr marL="0" indent="0">
              <a:buNone/>
            </a:pPr>
            <a:r>
              <a:rPr lang="en-IN" b="1"/>
              <a:t>What are Exoplanets?</a:t>
            </a:r>
            <a:endParaRPr lang="en-IN" sz="1800">
              <a:solidFill>
                <a:srgbClr val="2F2F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IN" sz="1800">
                <a:solidFill>
                  <a:srgbClr val="2F2F2F"/>
                </a:solidFill>
                <a:ea typeface="+mn-lt"/>
                <a:cs typeface="+mn-lt"/>
              </a:rPr>
              <a:t>Planets orbiting stars beyond our Solar System.</a:t>
            </a:r>
            <a:endParaRPr lang="en-IN"/>
          </a:p>
          <a:p>
            <a:pPr>
              <a:buFont typeface="Arial"/>
              <a:buChar char="•"/>
            </a:pPr>
            <a:r>
              <a:rPr lang="en-IN" sz="1800">
                <a:solidFill>
                  <a:srgbClr val="2F2F2F"/>
                </a:solidFill>
                <a:ea typeface="+mn-lt"/>
                <a:cs typeface="+mn-lt"/>
              </a:rPr>
              <a:t>Extremely faint: up to </a:t>
            </a:r>
            <a:r>
              <a:rPr lang="en-IN" sz="1800" b="1">
                <a:solidFill>
                  <a:srgbClr val="2F2F2F"/>
                </a:solidFill>
                <a:ea typeface="+mn-lt"/>
                <a:cs typeface="+mn-lt"/>
              </a:rPr>
              <a:t>10⁶–10¹⁰ times dimmer</a:t>
            </a:r>
            <a:r>
              <a:rPr lang="en-IN" sz="1800">
                <a:solidFill>
                  <a:srgbClr val="2F2F2F"/>
                </a:solidFill>
                <a:ea typeface="+mn-lt"/>
                <a:cs typeface="+mn-lt"/>
              </a:rPr>
              <a:t> than their parent stars.</a:t>
            </a:r>
            <a:endParaRPr lang="en-IN"/>
          </a:p>
          <a:p>
            <a:pPr>
              <a:buFont typeface="Arial"/>
              <a:buChar char="•"/>
            </a:pPr>
            <a:r>
              <a:rPr lang="en-IN" sz="1800">
                <a:solidFill>
                  <a:srgbClr val="2F2F2F"/>
                </a:solidFill>
                <a:ea typeface="+mn-lt"/>
                <a:cs typeface="+mn-lt"/>
              </a:rPr>
              <a:t>Direct imaging is difficult because starlight overwhelms the faint planet signal.</a:t>
            </a:r>
            <a:endParaRPr lang="en-IN"/>
          </a:p>
          <a:p>
            <a:pPr marL="0" indent="0">
              <a:buNone/>
            </a:pPr>
            <a:r>
              <a:rPr lang="en-IN" b="1"/>
              <a:t>Problem in Exoplanet Imaging</a:t>
            </a:r>
            <a:endParaRPr lang="en-IN"/>
          </a:p>
          <a:p>
            <a:pPr>
              <a:buFont typeface="Arial"/>
              <a:buChar char="•"/>
            </a:pPr>
            <a:r>
              <a:rPr lang="en-IN" sz="1800">
                <a:solidFill>
                  <a:srgbClr val="2F2F2F"/>
                </a:solidFill>
                <a:ea typeface="+mn-lt"/>
                <a:cs typeface="+mn-lt"/>
              </a:rPr>
              <a:t>Stellar </a:t>
            </a:r>
            <a:r>
              <a:rPr lang="en-IN" sz="1800" b="1">
                <a:solidFill>
                  <a:srgbClr val="2F2F2F"/>
                </a:solidFill>
                <a:ea typeface="+mn-lt"/>
                <a:cs typeface="+mn-lt"/>
              </a:rPr>
              <a:t>PSF glare dominates the image</a:t>
            </a:r>
            <a:r>
              <a:rPr lang="en-IN" sz="1800">
                <a:solidFill>
                  <a:srgbClr val="2F2F2F"/>
                </a:solidFill>
                <a:ea typeface="+mn-lt"/>
                <a:cs typeface="+mn-lt"/>
              </a:rPr>
              <a:t>.</a:t>
            </a:r>
            <a:endParaRPr lang="en-IN"/>
          </a:p>
          <a:p>
            <a:pPr>
              <a:buFont typeface="Arial"/>
              <a:buChar char="•"/>
            </a:pPr>
            <a:r>
              <a:rPr lang="en-IN" sz="1800" b="1">
                <a:solidFill>
                  <a:srgbClr val="2F2F2F"/>
                </a:solidFill>
                <a:ea typeface="+mn-lt"/>
                <a:cs typeface="+mn-lt"/>
              </a:rPr>
              <a:t>Speckle noise</a:t>
            </a:r>
            <a:r>
              <a:rPr lang="en-IN" sz="1800">
                <a:solidFill>
                  <a:srgbClr val="2F2F2F"/>
                </a:solidFill>
                <a:ea typeface="+mn-lt"/>
                <a:cs typeface="+mn-lt"/>
              </a:rPr>
              <a:t> mimics fake planets.</a:t>
            </a:r>
            <a:endParaRPr lang="en-IN"/>
          </a:p>
          <a:p>
            <a:pPr>
              <a:buFont typeface="Arial"/>
              <a:buChar char="•"/>
            </a:pPr>
            <a:r>
              <a:rPr lang="en-IN" sz="1800">
                <a:solidFill>
                  <a:srgbClr val="2F2F2F"/>
                </a:solidFill>
                <a:ea typeface="+mn-lt"/>
                <a:cs typeface="+mn-lt"/>
              </a:rPr>
              <a:t>Atmospheric distortions further obscure the signal.</a:t>
            </a:r>
            <a:endParaRPr lang="en-IN"/>
          </a:p>
          <a:p>
            <a:pPr>
              <a:buFont typeface="Arial"/>
              <a:buChar char="•"/>
            </a:pPr>
            <a:endParaRPr lang="en-IN" sz="1800">
              <a:solidFill>
                <a:srgbClr val="2F2F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BFD2C03F-ABD8-F0EC-4A05-8FFC45ADD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Giant exoplanet orbiting tiny star defies current theory of planet  formation – Physics World">
            <a:extLst>
              <a:ext uri="{FF2B5EF4-FFF2-40B4-BE49-F238E27FC236}">
                <a16:creationId xmlns:a16="http://schemas.microsoft.com/office/drawing/2014/main" id="{67C6ABBD-23B5-871F-A36A-DD30C3EDA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440" y="1442358"/>
            <a:ext cx="4656710" cy="266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4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solidFill>
                  <a:srgbClr val="C00000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9FD89B7D-0F3C-003A-250F-47790CFAF41C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8" y="1459164"/>
            <a:ext cx="9699038" cy="4442872"/>
          </a:xfrm>
        </p:spPr>
        <p:txBody>
          <a:bodyPr/>
          <a:lstStyle/>
          <a:p>
            <a:pPr>
              <a:buFont typeface="Arial" panose="05000000000000000000" pitchFamily="2" charset="2"/>
              <a:buChar char="•"/>
            </a:pP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Exoplanet detection is one of the most challenging tasks in modern astronomy.</a:t>
            </a:r>
            <a:endParaRPr lang="en-IN" sz="1800">
              <a:solidFill>
                <a:srgbClr val="2F2F2F"/>
              </a:solidFill>
              <a:latin typeface="Times New Roman"/>
              <a:cs typeface="Times New Roman" panose="02020603050405020304" pitchFamily="18" charset="0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The faint light of exoplanets is often </a:t>
            </a:r>
            <a:r>
              <a:rPr lang="en-IN" sz="1800" b="1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billions of times dimmer</a:t>
            </a: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 than their host stars.</a:t>
            </a:r>
            <a:endParaRPr lang="en-IN" sz="1800">
              <a:latin typeface="Times New Roman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Astronomical images captured by telescopes are dominated by </a:t>
            </a:r>
            <a:r>
              <a:rPr lang="en-IN" sz="1800" b="1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stellar glare</a:t>
            </a: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 and </a:t>
            </a:r>
            <a:r>
              <a:rPr lang="en-IN" sz="1800" b="1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speckle noise</a:t>
            </a: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, which hide the planet’s signal.</a:t>
            </a:r>
            <a:endParaRPr lang="en-IN" sz="1800">
              <a:latin typeface="Times New Roman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Traditional image processing methods fail to effectively </a:t>
            </a:r>
            <a:r>
              <a:rPr lang="en-IN" sz="1800" b="1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separate the planet’s faint light</a:t>
            </a: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 from the bright stellar background.</a:t>
            </a:r>
            <a:endParaRPr lang="en-IN" sz="1800">
              <a:solidFill>
                <a:srgbClr val="2F2F2F"/>
              </a:solidFill>
              <a:latin typeface="Times New Roman"/>
              <a:cs typeface="Times New Roman" panose="02020603050405020304" pitchFamily="18" charset="0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There is a need for </a:t>
            </a:r>
            <a:r>
              <a:rPr lang="en-IN" sz="1800" b="1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advanced mathematical techniques</a:t>
            </a:r>
            <a:r>
              <a:rPr lang="en-IN" sz="1800">
                <a:solidFill>
                  <a:srgbClr val="2F2F2F"/>
                </a:solidFill>
                <a:latin typeface="Times New Roman"/>
                <a:ea typeface="+mn-lt"/>
                <a:cs typeface="+mn-lt"/>
              </a:rPr>
              <a:t> to enhance the visibility of exoplanets in high-contrast images.</a:t>
            </a:r>
            <a:endParaRPr lang="en-IN" sz="1800">
              <a:latin typeface="Times New Roman"/>
            </a:endParaRP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1600">
              <a:solidFill>
                <a:srgbClr val="2F2F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657DAC6B-BFB3-565C-A09F-131373996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04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13E3-01C8-9CAD-5367-6DE23845F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solidFill>
                  <a:schemeClr val="accent2"/>
                </a:solidFill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2B781-1CB7-FA99-A896-F8BE9E0FADD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D8CB0-0C06-8D8C-19C8-84AD2531C9E7}"/>
              </a:ext>
            </a:extLst>
          </p:cNvPr>
          <p:cNvSpPr txBox="1"/>
          <p:nvPr/>
        </p:nvSpPr>
        <p:spPr>
          <a:xfrm>
            <a:off x="580213" y="1594304"/>
            <a:ext cx="1014548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To enhance exoplanet detectability</a:t>
            </a:r>
            <a:r>
              <a:rPr lang="en-US">
                <a:ea typeface="+mn-lt"/>
                <a:cs typeface="+mn-lt"/>
              </a:rPr>
              <a:t> by removing stellar glare and suppressing speckle noise from high-contrast imaging data.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To implement and evaluate PCA and NMF algorithms</a:t>
            </a:r>
            <a:r>
              <a:rPr lang="en-US">
                <a:ea typeface="+mn-lt"/>
                <a:cs typeface="+mn-lt"/>
              </a:rPr>
              <a:t> for efficient PSF subtraction and speckle suppression.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To improve the signal-to-noise ratio (SNR)</a:t>
            </a:r>
            <a:r>
              <a:rPr lang="en-US">
                <a:ea typeface="+mn-lt"/>
                <a:cs typeface="+mn-lt"/>
              </a:rPr>
              <a:t> of faint planetary companions across different angular separations.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To generate accurate contrast and sensitivity curves</a:t>
            </a:r>
            <a:r>
              <a:rPr lang="en-US">
                <a:ea typeface="+mn-lt"/>
                <a:cs typeface="+mn-lt"/>
              </a:rPr>
              <a:t> for assessing detection limits at various separations.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To build a complete reproducible pipeline</a:t>
            </a:r>
            <a:r>
              <a:rPr lang="en-US">
                <a:ea typeface="+mn-lt"/>
                <a:cs typeface="+mn-lt"/>
              </a:rPr>
              <a:t> for exoplanet detection using public astronomical datasets (e.g., VLT/NACO, SPHERE).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To compare PCA vs. NMF performance</a:t>
            </a:r>
            <a:r>
              <a:rPr lang="en-US">
                <a:ea typeface="+mn-lt"/>
                <a:cs typeface="+mn-lt"/>
              </a:rPr>
              <a:t> in terms of SNR, flux retention, speckle suppression, and detection confidence, identifying the best conditions for each method.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800">
              <a:solidFill>
                <a:srgbClr val="000000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ED0C4144-EB3A-CE03-471F-40861FE3A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217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14" y="209758"/>
            <a:ext cx="10869073" cy="712407"/>
          </a:xfrm>
        </p:spPr>
        <p:txBody>
          <a:bodyPr/>
          <a:lstStyle/>
          <a:p>
            <a:r>
              <a:rPr kumimoji="0" lang="en-US" sz="2800" i="0" u="none" strike="noStrike" kern="1200" cap="all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Times New Roman"/>
              </a:rPr>
              <a:t>LITERATURE Survey</a:t>
            </a:r>
            <a:r>
              <a:rPr lang="en-US" sz="2800" b="0" cap="all">
                <a:solidFill>
                  <a:srgbClr val="C00000"/>
                </a:solidFill>
                <a:latin typeface="Times"/>
                <a:cs typeface="Times"/>
              </a:rPr>
              <a:t> </a:t>
            </a:r>
            <a:endParaRPr lang="en-US" sz="360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/>
          </a:p>
        </p:txBody>
      </p:sp>
      <p:graphicFrame>
        <p:nvGraphicFramePr>
          <p:cNvPr id="2" name="Table Placeholder 1">
            <a:extLst>
              <a:ext uri="{FF2B5EF4-FFF2-40B4-BE49-F238E27FC236}">
                <a16:creationId xmlns:a16="http://schemas.microsoft.com/office/drawing/2014/main" id="{5AAD95C5-B5C9-B371-FC3C-19480822B61A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1522070754"/>
              </p:ext>
            </p:extLst>
          </p:nvPr>
        </p:nvGraphicFramePr>
        <p:xfrm>
          <a:off x="545001" y="949635"/>
          <a:ext cx="10556407" cy="5292062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6126">
                  <a:extLst>
                    <a:ext uri="{9D8B030D-6E8A-4147-A177-3AD203B41FA5}">
                      <a16:colId xmlns:a16="http://schemas.microsoft.com/office/drawing/2014/main" val="3313566027"/>
                    </a:ext>
                  </a:extLst>
                </a:gridCol>
                <a:gridCol w="1992406">
                  <a:extLst>
                    <a:ext uri="{9D8B030D-6E8A-4147-A177-3AD203B41FA5}">
                      <a16:colId xmlns:a16="http://schemas.microsoft.com/office/drawing/2014/main" val="3626111695"/>
                    </a:ext>
                  </a:extLst>
                </a:gridCol>
                <a:gridCol w="1844254">
                  <a:extLst>
                    <a:ext uri="{9D8B030D-6E8A-4147-A177-3AD203B41FA5}">
                      <a16:colId xmlns:a16="http://schemas.microsoft.com/office/drawing/2014/main" val="1906287895"/>
                    </a:ext>
                  </a:extLst>
                </a:gridCol>
                <a:gridCol w="1355029">
                  <a:extLst>
                    <a:ext uri="{9D8B030D-6E8A-4147-A177-3AD203B41FA5}">
                      <a16:colId xmlns:a16="http://schemas.microsoft.com/office/drawing/2014/main" val="2089464918"/>
                    </a:ext>
                  </a:extLst>
                </a:gridCol>
                <a:gridCol w="2029380">
                  <a:extLst>
                    <a:ext uri="{9D8B030D-6E8A-4147-A177-3AD203B41FA5}">
                      <a16:colId xmlns:a16="http://schemas.microsoft.com/office/drawing/2014/main" val="3288095232"/>
                    </a:ext>
                  </a:extLst>
                </a:gridCol>
                <a:gridCol w="2319212">
                  <a:extLst>
                    <a:ext uri="{9D8B030D-6E8A-4147-A177-3AD203B41FA5}">
                      <a16:colId xmlns:a16="http://schemas.microsoft.com/office/drawing/2014/main" val="2947351035"/>
                    </a:ext>
                  </a:extLst>
                </a:gridCol>
              </a:tblGrid>
              <a:tr h="18715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S. No.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Title</a:t>
                      </a: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Objectives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Techniques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Results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Conclusion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extLst>
                  <a:ext uri="{0D108BD9-81ED-4DB2-BD59-A6C34878D82A}">
                    <a16:rowId xmlns:a16="http://schemas.microsoft.com/office/drawing/2014/main" val="2923868374"/>
                  </a:ext>
                </a:extLst>
              </a:tr>
              <a:tr h="2205789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400" b="1" i="0" u="none" strike="noStrike" noProof="0">
                          <a:effectLst/>
                          <a:latin typeface="Times New Roman"/>
                        </a:rPr>
                        <a:t>Exoplanet Imaging via Differentiable </a:t>
                      </a:r>
                      <a:endParaRPr lang="en-US" sz="1400" b="1">
                        <a:latin typeface="Times New Roman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effectLst/>
                          <a:latin typeface="Times New Roman"/>
                        </a:rPr>
                        <a:t>Rendering</a:t>
                      </a: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, IEEE Transactions </a:t>
                      </a:r>
                      <a:endParaRPr lang="en-US" sz="1400">
                        <a:latin typeface="Times New Roman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on Computational </a:t>
                      </a:r>
                      <a:endParaRPr lang="en-US" sz="1400">
                        <a:latin typeface="Times New Roman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Imaging, 2025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Integrate physics-informed differentiable rendering to model wavefront propagation and speckle fields, complementing PCA/KLIP post-processing for improved subtraction and detection sensitivity</a:t>
                      </a: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Differentiable rendering, inverse graphics optimization; framed as a model-based alternative/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augment to PCA/NMF pipelines</a:t>
                      </a: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Improved localization and detection under quasi-static speckles versus purely statistical subtraction, with quantitative gains in reported benchmarks.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Physics-based inverse modeling reduces self-subtraction bias and pairs effectively with PCA/NMF for robust exoplanet detection.</a:t>
                      </a: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extLst>
                  <a:ext uri="{0D108BD9-81ED-4DB2-BD59-A6C34878D82A}">
                    <a16:rowId xmlns:a16="http://schemas.microsoft.com/office/drawing/2014/main" val="1501536263"/>
                  </a:ext>
                </a:extLst>
              </a:tr>
              <a:tr h="287291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effectLst/>
                          <a:latin typeface="Times New Roman"/>
                        </a:rPr>
                        <a:t>Enhanced Classification of Exoplanets Using Machine Learning: Integrating Feature Selection, Ensemble Algorithms, and Explainable AI Insights</a:t>
                      </a: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, 2024 15th ICCCNT (IEEE)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Improve exoplanet class discrimination in KOI using feature selection, ensembles, PCA visualization, and XAI to interpret model decisions; complements imaging pipelines by refining candidate vetting.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KNN, SVM, RF, NB, DT, CNN; ensembles </a:t>
                      </a:r>
                      <a:r>
                        <a:rPr lang="en-US" sz="1400" b="0" i="0" u="none" strike="noStrike" noProof="0" err="1">
                          <a:effectLst/>
                          <a:latin typeface="Times New Roman"/>
                        </a:rPr>
                        <a:t>XGBoost</a:t>
                      </a: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, GBM, </a:t>
                      </a:r>
                      <a:r>
                        <a:rPr lang="en-US" sz="1400" b="0" i="0" u="none" strike="noStrike" noProof="0" err="1">
                          <a:effectLst/>
                          <a:latin typeface="Times New Roman"/>
                        </a:rPr>
                        <a:t>CatBoost</a:t>
                      </a: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, AdaBoost; data imputation with KNN; outlier handling; </a:t>
                      </a:r>
                      <a:r>
                        <a:rPr lang="en-US" sz="1400" b="0" i="0" u="none" strike="noStrike" noProof="0" err="1">
                          <a:effectLst/>
                          <a:latin typeface="Times New Roman"/>
                        </a:rPr>
                        <a:t>KMeansSMOTE</a:t>
                      </a: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 for imbalance.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Random Forest best performer with F-measure 0.95; PCA aids structure insight; SHAP identifies key predictors for class decisions.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22838" marR="22838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Times New Roman"/>
                        </a:rPr>
                        <a:t>Feature selection plus ensembles and XAI yields accurate and interpretable exoplanet classification, strengthening end-to-end detection pipelines beyond imaging alone.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22838" marR="22838" marT="0" marB="0"/>
                </a:tc>
                <a:extLst>
                  <a:ext uri="{0D108BD9-81ED-4DB2-BD59-A6C34878D82A}">
                    <a16:rowId xmlns:a16="http://schemas.microsoft.com/office/drawing/2014/main" val="1922733171"/>
                  </a:ext>
                </a:extLst>
              </a:tr>
            </a:tbl>
          </a:graphicData>
        </a:graphic>
      </p:graphicFrame>
      <p:pic>
        <p:nvPicPr>
          <p:cNvPr id="6" name="Picture 2" descr="Amrita Vishwa Vidyapeetham - Wikipedia">
            <a:extLst>
              <a:ext uri="{FF2B5EF4-FFF2-40B4-BE49-F238E27FC236}">
                <a16:creationId xmlns:a16="http://schemas.microsoft.com/office/drawing/2014/main" id="{5E9D7E62-44AD-04FE-1757-184CF742F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77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6" y="463758"/>
            <a:ext cx="10869073" cy="712407"/>
          </a:xfrm>
        </p:spPr>
        <p:txBody>
          <a:bodyPr/>
          <a:lstStyle/>
          <a:p>
            <a:r>
              <a:rPr kumimoji="0" lang="en-US" sz="2800" i="0" u="none" strike="noStrike" kern="1200" cap="all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Times New Roman"/>
              </a:rPr>
              <a:t>LITERATURE Survey</a:t>
            </a:r>
            <a:endParaRPr lang="en-US" sz="360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/>
          </a:p>
        </p:txBody>
      </p:sp>
      <p:graphicFrame>
        <p:nvGraphicFramePr>
          <p:cNvPr id="11" name="Table Placeholder 1">
            <a:extLst>
              <a:ext uri="{FF2B5EF4-FFF2-40B4-BE49-F238E27FC236}">
                <a16:creationId xmlns:a16="http://schemas.microsoft.com/office/drawing/2014/main" id="{25A6D613-7364-BA5C-A88D-B099C8E4A81E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1318367543"/>
              </p:ext>
            </p:extLst>
          </p:nvPr>
        </p:nvGraphicFramePr>
        <p:xfrm>
          <a:off x="523874" y="1177017"/>
          <a:ext cx="10977797" cy="5013866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962093">
                  <a:extLst>
                    <a:ext uri="{9D8B030D-6E8A-4147-A177-3AD203B41FA5}">
                      <a16:colId xmlns:a16="http://schemas.microsoft.com/office/drawing/2014/main" val="3313566027"/>
                    </a:ext>
                  </a:extLst>
                </a:gridCol>
                <a:gridCol w="1898829">
                  <a:extLst>
                    <a:ext uri="{9D8B030D-6E8A-4147-A177-3AD203B41FA5}">
                      <a16:colId xmlns:a16="http://schemas.microsoft.com/office/drawing/2014/main" val="3626111695"/>
                    </a:ext>
                  </a:extLst>
                </a:gridCol>
                <a:gridCol w="2264659">
                  <a:extLst>
                    <a:ext uri="{9D8B030D-6E8A-4147-A177-3AD203B41FA5}">
                      <a16:colId xmlns:a16="http://schemas.microsoft.com/office/drawing/2014/main" val="1906287895"/>
                    </a:ext>
                  </a:extLst>
                </a:gridCol>
                <a:gridCol w="1742046">
                  <a:extLst>
                    <a:ext uri="{9D8B030D-6E8A-4147-A177-3AD203B41FA5}">
                      <a16:colId xmlns:a16="http://schemas.microsoft.com/office/drawing/2014/main" val="2089464918"/>
                    </a:ext>
                  </a:extLst>
                </a:gridCol>
                <a:gridCol w="2264660">
                  <a:extLst>
                    <a:ext uri="{9D8B030D-6E8A-4147-A177-3AD203B41FA5}">
                      <a16:colId xmlns:a16="http://schemas.microsoft.com/office/drawing/2014/main" val="3288095232"/>
                    </a:ext>
                  </a:extLst>
                </a:gridCol>
                <a:gridCol w="1845510">
                  <a:extLst>
                    <a:ext uri="{9D8B030D-6E8A-4147-A177-3AD203B41FA5}">
                      <a16:colId xmlns:a16="http://schemas.microsoft.com/office/drawing/2014/main" val="2947351035"/>
                    </a:ext>
                  </a:extLst>
                </a:gridCol>
              </a:tblGrid>
              <a:tr h="23989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S. No.</a:t>
                      </a:r>
                      <a:endParaRPr lang="en-US" sz="1400"/>
                    </a:p>
                  </a:txBody>
                  <a:tcPr marL="22837" marR="22837" marT="0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Title</a:t>
                      </a:r>
                    </a:p>
                  </a:txBody>
                  <a:tcPr marL="22837" marR="22837" marT="0" marB="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Objectives</a:t>
                      </a:r>
                      <a:endParaRPr lang="en-US" sz="1400"/>
                    </a:p>
                  </a:txBody>
                  <a:tcPr marL="22837" marR="22837" marT="0" marB="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Techniques</a:t>
                      </a:r>
                      <a:endParaRPr lang="en-US" sz="1400"/>
                    </a:p>
                  </a:txBody>
                  <a:tcPr marL="22837" marR="22837" marT="0" marB="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Results</a:t>
                      </a:r>
                      <a:endParaRPr lang="en-US" sz="1400"/>
                    </a:p>
                  </a:txBody>
                  <a:tcPr marL="22837" marR="22837" marT="0" marB="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Conclusion</a:t>
                      </a:r>
                      <a:endParaRPr lang="en-US" sz="1400"/>
                    </a:p>
                  </a:txBody>
                  <a:tcPr marL="22837" marR="22837" marT="0" marB="0"/>
                </a:tc>
                <a:extLst>
                  <a:ext uri="{0D108BD9-81ED-4DB2-BD59-A6C34878D82A}">
                    <a16:rowId xmlns:a16="http://schemas.microsoft.com/office/drawing/2014/main" val="2151421977"/>
                  </a:ext>
                </a:extLst>
              </a:tr>
              <a:tr h="2291026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Arial Unicode MS"/>
                          <a:cs typeface="Times New Roman"/>
                        </a:rPr>
                        <a:t>3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Exoplanet detection in angular differential imaging by learning </a:t>
                      </a:r>
                      <a:r>
                        <a:rPr lang="en-US" sz="1400" b="1" i="0" u="none" strike="noStrike" noProof="0">
                          <a:solidFill>
                            <a:srgbClr val="374151"/>
                          </a:solidFill>
                          <a:effectLst/>
                          <a:latin typeface="Times New Roman"/>
                        </a:rPr>
                        <a:t>across multiple observations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 MNRAS, 2024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Learn nuisance speckle statistics to improve detection maps versus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cADI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/KLIP, mitigating self-subtraction and boosting SNR in ADI/ASDI regimes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Data-driven statistical learning for speckles; comparison to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cADI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KLIP; supports multi-spectral fusion (ASDI).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Higher AUC and improved detection maps near the star than KLIP, reducing false positives and self-subtraction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Learning-based speckle modeling outperforms PCA-only baselines, especially with spectral diversity. </a:t>
                      </a:r>
                      <a:endParaRPr lang="en-US" sz="140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40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br>
                        <a:rPr lang="en-US"/>
                      </a:b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1536263"/>
                  </a:ext>
                </a:extLst>
              </a:tr>
              <a:tr h="248294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Arial Unicode MS"/>
                          <a:cs typeface="Times New Roman"/>
                        </a:rPr>
                        <a:t>4</a:t>
                      </a:r>
                      <a:endParaRPr lang="en-IN" sz="1400">
                        <a:effectLst/>
                        <a:latin typeface="Times New Roman"/>
                        <a:ea typeface="Arial Unicode MS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Exoplanet detection techniques for direct imaging dark zone maintenance datasets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 JATIS 10(4):049003, 2024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Define detection evaluation protocols in coronagraphic dark-zone maintenance contexts for HWO-like contrasts; position PCA/KLIP within testbed workflows.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Comparative detection frameworks integrating control telemetry with post-processing; PCA/KLIP as baselines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Outlines metrics and procedures to assess detectors at extreme contrasts, informing PCA/KLIP parameterization and limits.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Effective detection at 10^-9–10^-10 requires coupling control data with advanced post-processing beyond PCA alone</a:t>
                      </a:r>
                      <a:endParaRPr lang="en-US" sz="1400">
                        <a:latin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2733171"/>
                  </a:ext>
                </a:extLst>
              </a:tr>
            </a:tbl>
          </a:graphicData>
        </a:graphic>
      </p:graphicFrame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60417152-6633-CC08-BB41-16B0E1323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056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2783-60F1-C4DD-9573-1F20A067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CB27-6AC9-D5DC-7FC6-3A4B5F2F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solidFill>
                  <a:schemeClr val="accent2"/>
                </a:solidFill>
                <a:ea typeface="+mj-lt"/>
                <a:cs typeface="+mj-lt"/>
              </a:rPr>
              <a:t>What Past Studies Missed vs What We Do ?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E7F48-30BC-27A0-870B-D6D23BBBB5D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/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CB500181-C1BF-0C6B-300A-0D3EF8BB0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058C4E-EB94-0E36-4FBA-2765150B2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87199"/>
              </p:ext>
            </p:extLst>
          </p:nvPr>
        </p:nvGraphicFramePr>
        <p:xfrm>
          <a:off x="360589" y="1340303"/>
          <a:ext cx="11550306" cy="524543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45368">
                  <a:extLst>
                    <a:ext uri="{9D8B030D-6E8A-4147-A177-3AD203B41FA5}">
                      <a16:colId xmlns:a16="http://schemas.microsoft.com/office/drawing/2014/main" val="2100129613"/>
                    </a:ext>
                  </a:extLst>
                </a:gridCol>
                <a:gridCol w="4531894">
                  <a:extLst>
                    <a:ext uri="{9D8B030D-6E8A-4147-A177-3AD203B41FA5}">
                      <a16:colId xmlns:a16="http://schemas.microsoft.com/office/drawing/2014/main" val="1311120147"/>
                    </a:ext>
                  </a:extLst>
                </a:gridCol>
                <a:gridCol w="4973044">
                  <a:extLst>
                    <a:ext uri="{9D8B030D-6E8A-4147-A177-3AD203B41FA5}">
                      <a16:colId xmlns:a16="http://schemas.microsoft.com/office/drawing/2014/main" val="2341515720"/>
                    </a:ext>
                  </a:extLst>
                </a:gridCol>
              </a:tblGrid>
              <a:tr h="36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Aspect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Past Research (Drawbacks)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Our Project (New Approach)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70781"/>
                  </a:ext>
                </a:extLst>
              </a:tr>
              <a:tr h="900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Method Type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Mostly deep-learning or physics-based rendering models — computationally heavy and complex to 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Pure mathematical decomposition (PCA + NMF) — lightweight, interpretable, and directly applicable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398000"/>
                  </a:ext>
                </a:extLst>
              </a:tr>
              <a:tr h="693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Data Requirements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Needs large </a:t>
                      </a:r>
                      <a:r>
                        <a:rPr lang="en-GB" sz="1400" dirty="0" err="1"/>
                        <a:t>labeled</a:t>
                      </a:r>
                      <a:r>
                        <a:rPr lang="en-GB" sz="1400" dirty="0"/>
                        <a:t> datasets or instrument-specific calibration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Works directly on raw telescope image cubes; no labels or training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969428"/>
                  </a:ext>
                </a:extLst>
              </a:tr>
              <a:tr h="693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Interpretability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Black-box or semi-transparent; difficult to explain decisions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Fully transparent linear-algebra steps; SNR, contrast, and residual maps explainable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24953"/>
                  </a:ext>
                </a:extLst>
              </a:tr>
              <a:tr h="48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Computation Cost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High GPU usage; long training and simulation 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Efficient CPU-only execution; suitable for laptops and research labs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82773"/>
                  </a:ext>
                </a:extLst>
              </a:tr>
              <a:tr h="693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Scope of Analysis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Typically focuses on a </a:t>
                      </a:r>
                      <a:r>
                        <a:rPr lang="en-GB" sz="1400" i="1" dirty="0"/>
                        <a:t>single</a:t>
                      </a:r>
                      <a:r>
                        <a:rPr lang="en-GB" sz="1400" dirty="0"/>
                        <a:t> method (e.g., just PCA or just ML)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Performs a combined and comparative study of </a:t>
                      </a:r>
                      <a:r>
                        <a:rPr lang="en-GB" sz="1400" b="1" dirty="0"/>
                        <a:t>PCA + NMF</a:t>
                      </a:r>
                      <a:r>
                        <a:rPr lang="en-GB" sz="1400" dirty="0"/>
                        <a:t>, identifying strengths of 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536654"/>
                  </a:ext>
                </a:extLst>
              </a:tr>
              <a:tr h="693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Objective Focus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Emphasis on classification, parameter estimation, or synthetic simulation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Direct improvement of image quality, speckle suppression, and exoplanet visibility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532312"/>
                  </a:ext>
                </a:extLst>
              </a:tr>
              <a:tr h="693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Generalizability</a:t>
                      </a:r>
                      <a:endParaRPr lang="en-GB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Often instrument-dependent (e.g., requires specific AO or coronagraph models)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Applicable to any high-contrast imaging dataset (ADI/RDI), making it widely reusable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129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29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B34C-4B16-033E-8AAD-D8543ECB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4D727D-8B25-4686-034D-88EDB389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81" y="310786"/>
            <a:ext cx="10612460" cy="691626"/>
          </a:xfrm>
        </p:spPr>
        <p:txBody>
          <a:bodyPr/>
          <a:lstStyle/>
          <a:p>
            <a:r>
              <a:rPr lang="en-US" sz="2800" cap="all">
                <a:solidFill>
                  <a:srgbClr val="C00000"/>
                </a:solidFill>
              </a:rPr>
              <a:t>System Overview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0A6FC-9A34-B8FB-BCE1-34BC2C78EC9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5D301F0D-F184-5FF0-28CE-51E136983796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484631" y="1322180"/>
            <a:ext cx="10410756" cy="5356528"/>
          </a:xfrm>
        </p:spPr>
        <p:txBody>
          <a:bodyPr/>
          <a:lstStyle/>
          <a:p>
            <a:pPr marL="0" indent="0" defTabSz="457200">
              <a:buNone/>
              <a:defRPr/>
            </a:pPr>
            <a:endParaRPr lang="en-US" sz="1800">
              <a:latin typeface="Times New Roman"/>
              <a:cs typeface="Times New Roman"/>
            </a:endParaRPr>
          </a:p>
          <a:p>
            <a:pPr defTabSz="457200">
              <a:buNone/>
              <a:defRPr/>
            </a:pPr>
            <a:endParaRPr lang="en-US" sz="1800">
              <a:ea typeface="+mn-lt"/>
              <a:cs typeface="+mn-lt"/>
            </a:endParaRPr>
          </a:p>
          <a:p>
            <a:pPr marL="0" indent="0" defTabSz="457200">
              <a:buNone/>
              <a:defRPr/>
            </a:pPr>
            <a:endParaRPr lang="en-US" sz="18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endParaRPr lang="en-US" sz="1800">
              <a:solidFill>
                <a:srgbClr val="374151"/>
              </a:solidFill>
              <a:latin typeface="Abadi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  <a:defRPr/>
            </a:pPr>
            <a:endParaRPr lang="en-US" sz="1800" b="1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1AD04128-88A2-B19C-2DF1-13FF93242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model&#10;&#10;AI-generated content may be incorrect.">
            <a:extLst>
              <a:ext uri="{FF2B5EF4-FFF2-40B4-BE49-F238E27FC236}">
                <a16:creationId xmlns:a16="http://schemas.microsoft.com/office/drawing/2014/main" id="{BAFC7A39-5381-7DFC-14CE-292DA621A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793" y="653143"/>
            <a:ext cx="4648841" cy="574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65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19482-D1D2-E023-B4D2-73947AD7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1C7A4D-B083-F9B6-F7C2-8406E9FF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630554"/>
            <a:ext cx="10612460" cy="691626"/>
          </a:xfrm>
        </p:spPr>
        <p:txBody>
          <a:bodyPr/>
          <a:lstStyle/>
          <a:p>
            <a:r>
              <a:rPr lang="en-US" sz="2800" cap="all">
                <a:solidFill>
                  <a:srgbClr val="C00000"/>
                </a:solidFill>
                <a:ea typeface="+mj-lt"/>
                <a:cs typeface="+mj-lt"/>
              </a:rPr>
              <a:t>Mathematical Model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658EA-5382-D57A-09AD-98C950D5AFA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0FC191A-C506-D312-D4A4-4516BFFD9B40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484631" y="1322180"/>
            <a:ext cx="10410756" cy="5356528"/>
          </a:xfrm>
        </p:spPr>
        <p:txBody>
          <a:bodyPr/>
          <a:lstStyle/>
          <a:p>
            <a:pPr defTabSz="457200">
              <a:buFont typeface="Arial"/>
              <a:buChar char="•"/>
              <a:defRPr/>
            </a:pPr>
            <a:r>
              <a:rPr lang="en-US" sz="1800">
                <a:latin typeface="Times New Roman"/>
                <a:ea typeface="+mn-lt"/>
                <a:cs typeface="+mn-lt"/>
              </a:rPr>
              <a:t>The observed astronomical image can be represented as:</a:t>
            </a:r>
            <a:endParaRPr lang="en-US">
              <a:latin typeface="Times New Roman"/>
              <a:ea typeface="+mn-lt"/>
              <a:cs typeface="+mn-lt"/>
            </a:endParaRPr>
          </a:p>
          <a:p>
            <a:pPr defTabSz="457200">
              <a:buNone/>
              <a:defRPr/>
            </a:pPr>
            <a:endParaRPr lang="en-US" sz="1800">
              <a:latin typeface="Times New Roman"/>
              <a:cs typeface="Times New Roman"/>
            </a:endParaRPr>
          </a:p>
          <a:p>
            <a:pPr indent="0" defTabSz="457200">
              <a:buNone/>
              <a:defRPr/>
            </a:pPr>
            <a:endParaRPr lang="en-US" sz="1800">
              <a:latin typeface="Times New Roman"/>
              <a:ea typeface="+mn-lt"/>
              <a:cs typeface="+mn-lt"/>
            </a:endParaRPr>
          </a:p>
          <a:p>
            <a:pPr indent="0" defTabSz="457200">
              <a:buNone/>
              <a:defRPr/>
            </a:pPr>
            <a:r>
              <a:rPr lang="en-US" sz="1800">
                <a:latin typeface="Times New Roman"/>
                <a:ea typeface="+mn-lt"/>
                <a:cs typeface="+mn-lt"/>
              </a:rPr>
              <a:t>where</a:t>
            </a:r>
            <a:br>
              <a:rPr lang="en-US" sz="1800">
                <a:latin typeface="Times New Roman"/>
                <a:ea typeface="+mn-lt"/>
                <a:cs typeface="+mn-lt"/>
              </a:rPr>
            </a:br>
            <a:r>
              <a:rPr lang="en-US" sz="1800" i="1">
                <a:latin typeface="Times New Roman"/>
                <a:ea typeface="+mn-lt"/>
                <a:cs typeface="+mn-lt"/>
              </a:rPr>
              <a:t> I: observed image,</a:t>
            </a:r>
            <a:br>
              <a:rPr lang="en-US" sz="1800" i="1">
                <a:latin typeface="Times New Roman"/>
                <a:ea typeface="+mn-lt"/>
                <a:cs typeface="+mn-lt"/>
              </a:rPr>
            </a:br>
            <a:r>
              <a:rPr lang="en-US" sz="1800" i="1">
                <a:latin typeface="Times New Roman"/>
                <a:ea typeface="+mn-lt"/>
                <a:cs typeface="+mn-lt"/>
              </a:rPr>
              <a:t> P: starlight (PSF),</a:t>
            </a:r>
            <a:br>
              <a:rPr lang="en-US" sz="1800" i="1">
                <a:latin typeface="Times New Roman"/>
                <a:ea typeface="+mn-lt"/>
                <a:cs typeface="+mn-lt"/>
              </a:rPr>
            </a:br>
            <a:r>
              <a:rPr lang="en-US" sz="1800" i="1">
                <a:latin typeface="Times New Roman"/>
                <a:ea typeface="+mn-lt"/>
                <a:cs typeface="+mn-lt"/>
              </a:rPr>
              <a:t> S: exoplanet signal,</a:t>
            </a:r>
            <a:br>
              <a:rPr lang="en-US" sz="1800" i="1">
                <a:latin typeface="Times New Roman"/>
                <a:ea typeface="+mn-lt"/>
                <a:cs typeface="+mn-lt"/>
              </a:rPr>
            </a:br>
            <a:r>
              <a:rPr lang="en-US" sz="1800" i="1">
                <a:latin typeface="Times New Roman"/>
                <a:ea typeface="+mn-lt"/>
                <a:cs typeface="+mn-lt"/>
              </a:rPr>
              <a:t> N: noise.</a:t>
            </a:r>
            <a:endParaRPr lang="en-US" i="1">
              <a:latin typeface="Times New Roman"/>
              <a:cs typeface="Times New Roman"/>
            </a:endParaRPr>
          </a:p>
          <a:p>
            <a:pPr defTabSz="457200">
              <a:buNone/>
              <a:defRPr/>
            </a:pPr>
            <a:r>
              <a:rPr lang="en-US" b="1">
                <a:latin typeface="Times New Roman"/>
                <a:cs typeface="Times New Roman"/>
              </a:rPr>
              <a:t>1. PCA (Principal Component Analysis)</a:t>
            </a:r>
            <a:endParaRPr lang="en-US">
              <a:latin typeface="Times New Roman"/>
              <a:cs typeface="Times New Roman"/>
            </a:endParaRPr>
          </a:p>
          <a:p>
            <a:pPr defTabSz="457200">
              <a:buNone/>
              <a:defRPr/>
            </a:pPr>
            <a:r>
              <a:rPr lang="en-US" sz="1800">
                <a:latin typeface="Times New Roman"/>
                <a:ea typeface="+mn-lt"/>
                <a:cs typeface="+mn-lt"/>
              </a:rPr>
              <a:t>Removes dominant starlight patterns (high variance):</a:t>
            </a:r>
            <a:endParaRPr lang="en-US">
              <a:latin typeface="Times New Roman"/>
            </a:endParaRPr>
          </a:p>
          <a:p>
            <a:pPr defTabSz="457200">
              <a:buNone/>
              <a:defRPr/>
            </a:pPr>
            <a:endParaRPr lang="en-US" sz="1800">
              <a:ea typeface="+mn-lt"/>
              <a:cs typeface="+mn-lt"/>
            </a:endParaRPr>
          </a:p>
          <a:p>
            <a:pPr marL="0" indent="0" defTabSz="457200">
              <a:buNone/>
              <a:defRPr/>
            </a:pPr>
            <a:endParaRPr lang="en-US" sz="18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endParaRPr lang="en-US" sz="1800">
              <a:solidFill>
                <a:srgbClr val="374151"/>
              </a:solidFill>
              <a:latin typeface="Abadi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  <a:defRPr/>
            </a:pPr>
            <a:endParaRPr lang="en-US" sz="1800" b="1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AFB038F1-C41F-BDD0-BB22-ADF1F0AE8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text with a plus and a white background&#10;&#10;AI-generated content may be incorrect.">
            <a:extLst>
              <a:ext uri="{FF2B5EF4-FFF2-40B4-BE49-F238E27FC236}">
                <a16:creationId xmlns:a16="http://schemas.microsoft.com/office/drawing/2014/main" id="{E3C2323F-915B-A56C-F3B1-82AB94A3F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0" y="1717221"/>
            <a:ext cx="2016579" cy="6340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81AA8A-71FE-761B-152F-C571BB8C8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189" y="4762500"/>
            <a:ext cx="2332265" cy="115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95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1B70-4EE8-B8A8-0F57-D3B7AEED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46E5CC-30F8-88EA-7F5A-8DBA19F0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630554"/>
            <a:ext cx="10612460" cy="691626"/>
          </a:xfrm>
        </p:spPr>
        <p:txBody>
          <a:bodyPr/>
          <a:lstStyle/>
          <a:p>
            <a:r>
              <a:rPr lang="en-US" sz="2800" cap="all">
                <a:solidFill>
                  <a:srgbClr val="C00000"/>
                </a:solidFill>
                <a:ea typeface="+mj-lt"/>
                <a:cs typeface="+mj-lt"/>
              </a:rPr>
              <a:t>Mathematical Model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2D2CB-BC75-9D53-E346-8FD18E948C4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776946A6-6441-DFAB-36DA-157577AC4442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484631" y="1322180"/>
            <a:ext cx="10410756" cy="5356528"/>
          </a:xfrm>
        </p:spPr>
        <p:txBody>
          <a:bodyPr/>
          <a:lstStyle/>
          <a:p>
            <a:pPr marL="0" indent="0" defTabSz="457200">
              <a:buNone/>
              <a:defRPr/>
            </a:pPr>
            <a:r>
              <a:rPr lang="en-US" b="1"/>
              <a:t>2. NMF (Non-negative Matrix Factorization)</a:t>
            </a:r>
            <a:endParaRPr lang="en-US" sz="1800"/>
          </a:p>
          <a:p>
            <a:pPr defTabSz="457200">
              <a:buFont typeface="Arial"/>
              <a:buChar char="•"/>
              <a:defRPr/>
            </a:pPr>
            <a:r>
              <a:rPr lang="en-US" sz="1800">
                <a:ea typeface="+mn-lt"/>
                <a:cs typeface="+mn-lt"/>
              </a:rPr>
              <a:t>Decomposes image into additive, non-negative parts:</a:t>
            </a:r>
            <a:endParaRPr lang="en-US"/>
          </a:p>
          <a:p>
            <a:pPr defTabSz="457200">
              <a:buFont typeface="Arial"/>
              <a:buChar char="•"/>
              <a:defRPr/>
            </a:pPr>
            <a:endParaRPr lang="en-US" sz="1800"/>
          </a:p>
          <a:p>
            <a:pPr defTabSz="457200">
              <a:buFont typeface="Arial"/>
              <a:buChar char="•"/>
              <a:defRPr/>
            </a:pPr>
            <a:endParaRPr lang="en-US" sz="1800">
              <a:ea typeface="+mn-lt"/>
              <a:cs typeface="+mn-lt"/>
            </a:endParaRPr>
          </a:p>
          <a:p>
            <a:pPr defTabSz="457200">
              <a:buFont typeface="Arial"/>
              <a:buChar char="•"/>
              <a:defRPr/>
            </a:pPr>
            <a:endParaRPr lang="en-US" sz="1800">
              <a:latin typeface="Abadi"/>
              <a:cs typeface="Times New Roman"/>
            </a:endParaRPr>
          </a:p>
          <a:p>
            <a:pPr defTabSz="457200">
              <a:buNone/>
              <a:defRPr/>
            </a:pPr>
            <a:endParaRPr lang="en-US" sz="1800">
              <a:solidFill>
                <a:srgbClr val="0F253E"/>
              </a:solidFill>
              <a:latin typeface="Abadi"/>
              <a:cs typeface="Times New Roman" panose="02020603050405020304" pitchFamily="18" charset="0"/>
            </a:endParaRPr>
          </a:p>
          <a:p>
            <a:pPr marL="0" indent="0" defTabSz="457200">
              <a:buNone/>
              <a:defRPr/>
            </a:pPr>
            <a:endParaRPr lang="en-US" sz="1800">
              <a:solidFill>
                <a:srgbClr val="0F253E"/>
              </a:solidFill>
              <a:latin typeface="Times New Roman"/>
              <a:cs typeface="Times New Roman" panose="02020603050405020304" pitchFamily="18" charset="0"/>
            </a:endParaRPr>
          </a:p>
          <a:p>
            <a:pPr marL="0" indent="0" defTabSz="457200">
              <a:buNone/>
              <a:defRPr/>
            </a:pPr>
            <a:r>
              <a:rPr lang="en-US" sz="1800">
                <a:solidFill>
                  <a:srgbClr val="374151"/>
                </a:solidFill>
                <a:ea typeface="+mn-lt"/>
                <a:cs typeface="+mn-lt"/>
              </a:rPr>
              <a:t>PCA + NMF together isolate the faint exoplanet light hidden within overwhelming starlight, enhancing detection accuracy.</a:t>
            </a:r>
            <a:endParaRPr lang="en-US" sz="1800">
              <a:solidFill>
                <a:srgbClr val="374151"/>
              </a:solidFill>
              <a:latin typeface="Abadi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  <a:defRPr/>
            </a:pPr>
            <a:endParaRPr lang="en-US" sz="1800" b="1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0EDEF256-D347-28AD-0224-3F61CD346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symbols on a white background&#10;&#10;AI-generated content may be incorrect.">
            <a:extLst>
              <a:ext uri="{FF2B5EF4-FFF2-40B4-BE49-F238E27FC236}">
                <a16:creationId xmlns:a16="http://schemas.microsoft.com/office/drawing/2014/main" id="{00D24F1D-7DBB-25CE-EDF4-09EDF432B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607" y="2400300"/>
            <a:ext cx="24765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5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630554"/>
            <a:ext cx="10612460" cy="691626"/>
          </a:xfrm>
        </p:spPr>
        <p:txBody>
          <a:bodyPr/>
          <a:lstStyle/>
          <a:p>
            <a:r>
              <a:rPr kumimoji="0" lang="en-US" sz="280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Times New Roman"/>
              </a:rPr>
              <a:t>Methodology </a:t>
            </a:r>
            <a:endParaRPr lang="en-US" sz="360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9FD89B7D-0F3C-003A-250F-47790CFAF41C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484631" y="1322180"/>
            <a:ext cx="10410756" cy="5356528"/>
          </a:xfrm>
        </p:spPr>
        <p:txBody>
          <a:bodyPr/>
          <a:lstStyle/>
          <a:p>
            <a:pPr defTabSz="457200">
              <a:buNone/>
              <a:defRPr/>
            </a:pPr>
            <a:r>
              <a:rPr lang="en-US" sz="1600" b="1" dirty="0">
                <a:latin typeface="Times New Roman"/>
                <a:cs typeface="Times New Roman"/>
              </a:rPr>
              <a:t>1. Data Acquisition</a:t>
            </a:r>
            <a:endParaRPr lang="en-US" sz="1600" dirty="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Import raw </a:t>
            </a:r>
            <a:r>
              <a:rPr lang="en-US" sz="1600" i="1" dirty="0">
                <a:latin typeface="Times New Roman"/>
                <a:ea typeface="+mn-lt"/>
                <a:cs typeface="+mn-lt"/>
              </a:rPr>
              <a:t>ADI FITS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image cubes.</a:t>
            </a:r>
            <a:endParaRPr lang="en-US" sz="1600" dirty="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Load corresponding parallactic angle sequence.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None/>
              <a:defRPr/>
            </a:pPr>
            <a:r>
              <a:rPr lang="en-US" sz="1600" b="1" dirty="0">
                <a:latin typeface="Times New Roman"/>
                <a:cs typeface="Times New Roman"/>
              </a:rPr>
              <a:t>2. Pre-Processing</a:t>
            </a:r>
            <a:endParaRPr lang="en-US" sz="1600" dirty="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Correct bad pixels and detector artifacts.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Align and recenter all frames.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Normalize flux and remove outliers.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None/>
              <a:defRPr/>
            </a:pPr>
            <a:r>
              <a:rPr lang="en-US" sz="1600" b="1" dirty="0">
                <a:latin typeface="Times New Roman"/>
                <a:cs typeface="Times New Roman"/>
              </a:rPr>
              <a:t>3. PSF Modeling &amp; Speckle Reduction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Model stellar PSF and quasi-static speckles.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Apply two mathematical decomposition methods:</a:t>
            </a:r>
            <a:endParaRPr lang="en-US" sz="1600">
              <a:latin typeface="Times New Roman"/>
              <a:cs typeface="Times New Roman"/>
            </a:endParaRPr>
          </a:p>
          <a:p>
            <a:pPr marL="971550" lvl="1" indent="-285750" defTabSz="457200">
              <a:buFont typeface="Arial"/>
              <a:buChar char="•"/>
              <a:defRPr/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PCA (SVD/KLIP)</a:t>
            </a:r>
            <a:endParaRPr lang="en-US" sz="1600">
              <a:latin typeface="Times New Roman"/>
              <a:cs typeface="Times New Roman"/>
            </a:endParaRPr>
          </a:p>
          <a:p>
            <a:pPr marL="971550" lvl="1" indent="-285750" defTabSz="457200">
              <a:buFont typeface="Arial"/>
              <a:buChar char="•"/>
              <a:defRPr/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NMF (non-negative factorization)</a:t>
            </a:r>
            <a:endParaRPr lang="en-US" sz="1600" dirty="0">
              <a:latin typeface="Times New Roman"/>
              <a:ea typeface="+mn-lt"/>
              <a:cs typeface="+mn-lt"/>
            </a:endParaRPr>
          </a:p>
          <a:p>
            <a:pPr marL="0" indent="0" defTabSz="457200">
              <a:buNone/>
              <a:defRPr/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4. 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PCA Pipeline</a:t>
            </a:r>
            <a:endParaRPr lang="en-US" dirty="0"/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Flatten cube → compute </a:t>
            </a:r>
            <a:r>
              <a:rPr lang="en-US" sz="1600" dirty="0" err="1">
                <a:latin typeface="Times New Roman"/>
                <a:ea typeface="+mn-lt"/>
                <a:cs typeface="+mn-lt"/>
              </a:rPr>
              <a:t>eigenbasis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using SVD.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Select optimal number of PCs (12–18).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Reconstruct &amp; subtract PSF → PCA residual cube.</a:t>
            </a:r>
            <a:endParaRPr lang="en-US" sz="1600" dirty="0">
              <a:latin typeface="Times New Roman"/>
              <a:cs typeface="Times New Roman"/>
            </a:endParaRPr>
          </a:p>
          <a:p>
            <a:pPr marL="0" indent="0" defTabSz="457200">
              <a:buNone/>
              <a:defRPr/>
            </a:pPr>
            <a:endParaRPr lang="en-US" sz="1800" dirty="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endParaRPr lang="en-US" sz="1800">
              <a:solidFill>
                <a:srgbClr val="374151"/>
              </a:solidFill>
              <a:latin typeface="Abadi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  <a:defRPr/>
            </a:pPr>
            <a:endParaRPr lang="en-US" sz="1800" b="1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C90F20C5-9561-A92C-5EF9-CA67ECA91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829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630554"/>
            <a:ext cx="10612460" cy="691626"/>
          </a:xfrm>
        </p:spPr>
        <p:txBody>
          <a:bodyPr/>
          <a:lstStyle/>
          <a:p>
            <a:r>
              <a:rPr kumimoji="0" lang="en-US" sz="280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Times New Roman"/>
              </a:rPr>
              <a:t>Methodology </a:t>
            </a:r>
            <a:endParaRPr lang="en-US" sz="360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9FD89B7D-0F3C-003A-250F-47790CFAF41C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94079" y="1325501"/>
            <a:ext cx="8934672" cy="4016736"/>
          </a:xfrm>
        </p:spPr>
        <p:txBody>
          <a:bodyPr/>
          <a:lstStyle/>
          <a:p>
            <a:pPr defTabSz="457200">
              <a:buNone/>
              <a:defRPr/>
            </a:pPr>
            <a:r>
              <a:rPr lang="en-US" sz="1600" b="1">
                <a:latin typeface="Times New Roman"/>
                <a:cs typeface="Times New Roman"/>
              </a:rPr>
              <a:t>5. NMF Pipeline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>
                <a:latin typeface="Times New Roman"/>
                <a:ea typeface="+mn-lt"/>
                <a:cs typeface="+mn-lt"/>
              </a:rPr>
              <a:t>Decompose cube into non-negative components.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>
                <a:latin typeface="Times New Roman"/>
                <a:ea typeface="+mn-lt"/>
                <a:cs typeface="+mn-lt"/>
              </a:rPr>
              <a:t>Preserve compact planet-like signals.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Subtract reconstructed speckle model → NMF residual cube.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None/>
              <a:defRPr/>
            </a:pPr>
            <a:r>
              <a:rPr lang="en-US" sz="1600" b="1">
                <a:latin typeface="Times New Roman"/>
                <a:cs typeface="Times New Roman"/>
              </a:rPr>
              <a:t>6. Frame </a:t>
            </a:r>
            <a:r>
              <a:rPr lang="en-US" sz="1600" b="1" err="1">
                <a:latin typeface="Times New Roman"/>
                <a:cs typeface="Times New Roman"/>
              </a:rPr>
              <a:t>Derotation</a:t>
            </a:r>
            <a:r>
              <a:rPr lang="en-US" sz="1600" b="1">
                <a:latin typeface="Times New Roman"/>
                <a:cs typeface="Times New Roman"/>
              </a:rPr>
              <a:t> &amp; Stacking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err="1">
                <a:latin typeface="Times New Roman"/>
                <a:ea typeface="+mn-lt"/>
                <a:cs typeface="+mn-lt"/>
              </a:rPr>
              <a:t>Derotate</a:t>
            </a:r>
            <a:r>
              <a:rPr lang="en-US" sz="1600">
                <a:latin typeface="Times New Roman"/>
                <a:ea typeface="+mn-lt"/>
                <a:cs typeface="+mn-lt"/>
              </a:rPr>
              <a:t> residual frames using parallactic angles.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Combine via median/mean stacking to enhance true planetary signal.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None/>
              <a:defRPr/>
            </a:pPr>
            <a:r>
              <a:rPr lang="en-US" sz="1600" b="1">
                <a:latin typeface="Times New Roman"/>
                <a:cs typeface="Times New Roman"/>
              </a:rPr>
              <a:t>7. Detection Metrics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>
                <a:latin typeface="Times New Roman"/>
                <a:ea typeface="+mn-lt"/>
                <a:cs typeface="+mn-lt"/>
              </a:rPr>
              <a:t>Generate </a:t>
            </a:r>
            <a:r>
              <a:rPr lang="en-US" sz="1600" b="1">
                <a:latin typeface="Times New Roman"/>
                <a:ea typeface="+mn-lt"/>
                <a:cs typeface="+mn-lt"/>
              </a:rPr>
              <a:t>SNR maps</a:t>
            </a:r>
            <a:r>
              <a:rPr lang="en-US" sz="1600">
                <a:latin typeface="Times New Roman"/>
                <a:ea typeface="+mn-lt"/>
                <a:cs typeface="+mn-lt"/>
              </a:rPr>
              <a:t> to identify significant peaks.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 dirty="0">
                <a:latin typeface="Times New Roman"/>
                <a:ea typeface="+mn-lt"/>
                <a:cs typeface="+mn-lt"/>
              </a:rPr>
              <a:t>Compute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5σ contrast curves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to measure sensitivity vs separation.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None/>
              <a:defRPr/>
            </a:pPr>
            <a:r>
              <a:rPr lang="en-US" sz="1600" b="1">
                <a:latin typeface="Times New Roman"/>
                <a:cs typeface="Times New Roman"/>
              </a:rPr>
              <a:t>8. Comparative Evaluation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>
                <a:latin typeface="Times New Roman"/>
                <a:ea typeface="+mn-lt"/>
                <a:cs typeface="+mn-lt"/>
              </a:rPr>
              <a:t>PCA → strong speckle suppression at wide separations.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>
                <a:latin typeface="Times New Roman"/>
                <a:ea typeface="+mn-lt"/>
                <a:cs typeface="+mn-lt"/>
              </a:rPr>
              <a:t>NMF → higher flux retention near star, reduced self-subtraction.</a:t>
            </a:r>
            <a:endParaRPr lang="en-US" sz="1600">
              <a:latin typeface="Times New Roman"/>
              <a:cs typeface="Times New Roman"/>
            </a:endParaRPr>
          </a:p>
          <a:p>
            <a:pPr defTabSz="457200">
              <a:buFont typeface="Arial"/>
              <a:buChar char="•"/>
              <a:defRPr/>
            </a:pPr>
            <a:r>
              <a:rPr lang="en-US" sz="1600">
                <a:latin typeface="Times New Roman"/>
                <a:ea typeface="+mn-lt"/>
                <a:cs typeface="+mn-lt"/>
              </a:rPr>
              <a:t>Hybrid interpretation improves confidence of exoplanet detection.</a:t>
            </a:r>
            <a:endParaRPr lang="en-US" sz="1600">
              <a:latin typeface="Times New Roman"/>
            </a:endParaRPr>
          </a:p>
          <a:p>
            <a:pPr marL="0" indent="0" defTabSz="457200">
              <a:buNone/>
              <a:defRPr/>
            </a:pPr>
            <a:endParaRPr lang="en-US" sz="1800" b="1" dirty="0">
              <a:latin typeface="Times New Roman"/>
              <a:cs typeface="Times New Roman"/>
            </a:endParaRPr>
          </a:p>
          <a:p>
            <a:pPr marL="342900" marR="0" lvl="0" indent="-342900" algn="l" defTabSz="45720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ED8428"/>
              </a:buClr>
              <a:buSzPct val="92000"/>
              <a:buAutoNum type="arabicPeriod" startAt="4"/>
              <a:tabLst/>
              <a:defRPr/>
            </a:pP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0F253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1AD97469-BF51-35E8-0103-2C1C2A902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928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401770"/>
            <a:ext cx="10889796" cy="1418998"/>
          </a:xfrm>
        </p:spPr>
        <p:txBody>
          <a:bodyPr/>
          <a:lstStyle/>
          <a:p>
            <a:r>
              <a:rPr lang="en-US" sz="2800">
                <a:solidFill>
                  <a:srgbClr val="C00000"/>
                </a:solidFill>
                <a:latin typeface="Times New Roman"/>
                <a:cs typeface="Times New Roman"/>
              </a:rPr>
              <a:t>DATA 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9FD89B7D-0F3C-003A-250F-47790CFAF41C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9" y="1110733"/>
            <a:ext cx="10340305" cy="4522264"/>
          </a:xfrm>
        </p:spPr>
        <p:txBody>
          <a:bodyPr/>
          <a:lstStyle/>
          <a:p>
            <a:pPr>
              <a:buNone/>
            </a:pPr>
            <a:r>
              <a:rPr lang="en-US" b="1"/>
              <a:t>1. Source &amp; Format</a:t>
            </a:r>
            <a:endParaRPr lang="en-US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The project uses publicly available </a:t>
            </a:r>
            <a:r>
              <a:rPr lang="en-US" sz="1800" b="1">
                <a:ea typeface="+mn-lt"/>
                <a:cs typeface="+mn-lt"/>
              </a:rPr>
              <a:t>FITS image cubes</a:t>
            </a:r>
            <a:r>
              <a:rPr lang="en-US" sz="1800">
                <a:ea typeface="+mn-lt"/>
                <a:cs typeface="+mn-lt"/>
              </a:rPr>
              <a:t> included within the </a:t>
            </a:r>
            <a:r>
              <a:rPr lang="en-US" sz="1800" b="1">
                <a:ea typeface="+mn-lt"/>
                <a:cs typeface="+mn-lt"/>
              </a:rPr>
              <a:t>VIP High-Contrast Imaging (HCI) library</a:t>
            </a:r>
            <a:r>
              <a:rPr lang="en-US" sz="1800">
                <a:ea typeface="+mn-lt"/>
                <a:cs typeface="+mn-lt"/>
              </a:rPr>
              <a:t>, derived from real telescopes such as </a:t>
            </a:r>
            <a:r>
              <a:rPr lang="en-US" sz="1800" b="1">
                <a:ea typeface="+mn-lt"/>
                <a:cs typeface="+mn-lt"/>
              </a:rPr>
              <a:t>VLT/NACO</a:t>
            </a:r>
            <a:r>
              <a:rPr lang="en-US" sz="1800">
                <a:ea typeface="+mn-lt"/>
                <a:cs typeface="+mn-lt"/>
              </a:rPr>
              <a:t> and </a:t>
            </a:r>
            <a:r>
              <a:rPr lang="en-US" sz="1800" b="1">
                <a:ea typeface="+mn-lt"/>
                <a:cs typeface="+mn-lt"/>
              </a:rPr>
              <a:t>SPHERE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</a:pPr>
            <a:r>
              <a:rPr lang="en-US" b="1"/>
              <a:t>2. Dataset Contents</a:t>
            </a:r>
            <a:endParaRPr lang="en-US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Each cube contains a sequence of </a:t>
            </a:r>
            <a:r>
              <a:rPr lang="en-US" sz="1800" b="1">
                <a:ea typeface="+mn-lt"/>
                <a:cs typeface="+mn-lt"/>
              </a:rPr>
              <a:t>raw ADI frames</a:t>
            </a:r>
            <a:r>
              <a:rPr lang="en-US" sz="1800">
                <a:ea typeface="+mn-lt"/>
                <a:cs typeface="+mn-lt"/>
              </a:rPr>
              <a:t>, parallactic angles, and bad-pixel masks—representing real stellar PSF structures, speckle noise, and faint companion signals.</a:t>
            </a:r>
            <a:endParaRPr lang="en-US"/>
          </a:p>
          <a:p>
            <a:pPr>
              <a:buNone/>
            </a:pPr>
            <a:r>
              <a:rPr lang="en-US" b="1"/>
              <a:t>3. Files Used in This Study</a:t>
            </a:r>
            <a:endParaRPr lang="en-US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Two benchmark datasets are used: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 err="1">
                <a:latin typeface="Consolas"/>
                <a:cs typeface="Times New Roman"/>
              </a:rPr>
              <a:t>naco_betapic.fits</a:t>
            </a:r>
            <a:endParaRPr lang="en-US" err="1"/>
          </a:p>
          <a:p>
            <a:pPr>
              <a:buFont typeface="Arial"/>
              <a:buChar char="•"/>
            </a:pPr>
            <a:r>
              <a:rPr lang="en-US" sz="1800" err="1">
                <a:latin typeface="Consolas"/>
                <a:cs typeface="Times New Roman"/>
              </a:rPr>
              <a:t>SPHERE_satspots_centered.fits</a:t>
            </a:r>
            <a:br>
              <a:rPr lang="en-US" sz="1800" dirty="0">
                <a:latin typeface="Consolas"/>
                <a:cs typeface="Times New Roman"/>
              </a:rPr>
            </a:br>
            <a:r>
              <a:rPr lang="en-US" sz="1800">
                <a:latin typeface="Consolas"/>
                <a:cs typeface="Times New Roman"/>
              </a:rPr>
              <a:t> These are standard test datasets widely used in HCI algorithm evaluation.</a:t>
            </a:r>
            <a:endParaRPr lang="en-US"/>
          </a:p>
          <a:p>
            <a:pPr indent="0">
              <a:buNone/>
            </a:pPr>
            <a:r>
              <a:rPr lang="en-US" b="1"/>
              <a:t>4. Suitability for PCA &amp; NMF</a:t>
            </a:r>
            <a:endParaRPr lang="en-US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The dataset is compact, well-calibrated, and ideal for testing </a:t>
            </a:r>
            <a:r>
              <a:rPr lang="en-US" sz="1800" b="1">
                <a:ea typeface="+mn-lt"/>
                <a:cs typeface="+mn-lt"/>
              </a:rPr>
              <a:t>post-processing techniques</a:t>
            </a:r>
            <a:r>
              <a:rPr lang="en-US" sz="1800">
                <a:ea typeface="+mn-lt"/>
                <a:cs typeface="+mn-lt"/>
              </a:rPr>
              <a:t> (PCA/NMF), enabling reproducible experiments in speckle suppression, SNR enhancement, and exoplanet detection.</a:t>
            </a:r>
            <a:endParaRPr lang="en-US"/>
          </a:p>
          <a:p>
            <a:pPr>
              <a:buNone/>
            </a:pPr>
            <a:endParaRPr lang="en-US" sz="1800" b="1" dirty="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</a:pPr>
            <a:endParaRPr lang="en-US" sz="1400">
              <a:solidFill>
                <a:srgbClr val="374151"/>
              </a:solidFill>
              <a:latin typeface="Abadi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748C2093-CE75-4D3C-0D97-24DFFDC1F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68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65614-E3DF-FD44-17BE-FA149CAF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C762EE-D5F3-0BF7-D89D-D0826E5F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67ACA-B90A-23C0-69A1-252CD9A73E9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ABDFC77-C58E-5D6C-D1F8-C4EF6D068F54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9" y="1614198"/>
            <a:ext cx="10410756" cy="4019686"/>
          </a:xfrm>
        </p:spPr>
        <p:txBody>
          <a:bodyPr/>
          <a:lstStyle/>
          <a:p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353D3-56D7-ECD3-C2EC-F0BFE6DF682C}"/>
              </a:ext>
            </a:extLst>
          </p:cNvPr>
          <p:cNvSpPr txBox="1"/>
          <p:nvPr/>
        </p:nvSpPr>
        <p:spPr>
          <a:xfrm>
            <a:off x="721059" y="1431256"/>
            <a:ext cx="933586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1. Raw ADI Observation</a:t>
            </a:r>
            <a:endParaRPr lang="en-US" b="1" dirty="0">
              <a:latin typeface="Times New Roman"/>
              <a:ea typeface="微软雅黑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Raw frame captured using Angular Differential Imaging (ADI)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Stellar PSF is extremely bright → planet signal is buried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Speckle noise dominates the inner region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preprocessing applied yet</a:t>
            </a:r>
            <a:endParaRPr lang="en-US"/>
          </a:p>
          <a:p>
            <a:pPr marL="342900" indent="-34290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 </a:t>
            </a:r>
          </a:p>
          <a:p>
            <a:pPr marL="342900" indent="-34290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D6EB20EA-DC6A-362B-1635-E556308E1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ue and green square with numbers&#10;&#10;AI-generated content may be incorrect.">
            <a:extLst>
              <a:ext uri="{FF2B5EF4-FFF2-40B4-BE49-F238E27FC236}">
                <a16:creationId xmlns:a16="http://schemas.microsoft.com/office/drawing/2014/main" id="{E1D86B7A-309A-A759-4D05-1C32E6CC9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703" y="1322614"/>
            <a:ext cx="4702629" cy="421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37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9FD89B7D-0F3C-003A-250F-47790CFAF41C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9" y="1614198"/>
            <a:ext cx="10410756" cy="4019686"/>
          </a:xfrm>
        </p:spPr>
        <p:txBody>
          <a:bodyPr/>
          <a:lstStyle/>
          <a:p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DA726-1E69-87EF-5D34-EF28AA889CC7}"/>
              </a:ext>
            </a:extLst>
          </p:cNvPr>
          <p:cNvSpPr txBox="1"/>
          <p:nvPr/>
        </p:nvSpPr>
        <p:spPr>
          <a:xfrm>
            <a:off x="721059" y="1431256"/>
            <a:ext cx="933586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2. Preprocessing Output – Noise, Alignment &amp; Bad Pixel Correction</a:t>
            </a:r>
            <a:endParaRPr lang="en-US" dirty="0">
              <a:latin typeface="Abadi"/>
              <a:ea typeface="微软雅黑"/>
              <a:cs typeface="Times New Roman"/>
            </a:endParaRPr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Bad pixels corrected via median + FFT interpolation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Frames centered using 2D Gaussian fitting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Normalization reduces brightness variance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Preprocessing improves algorithm stability</a:t>
            </a:r>
            <a:endParaRPr lang="en-US" dirty="0"/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015912E5-933B-6540-A035-9948463C3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graph of a model&#10;&#10;AI-generated content may be incorrect.">
            <a:extLst>
              <a:ext uri="{FF2B5EF4-FFF2-40B4-BE49-F238E27FC236}">
                <a16:creationId xmlns:a16="http://schemas.microsoft.com/office/drawing/2014/main" id="{5806F3D1-9C95-4F24-0747-F9053B2AE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07" y="3427696"/>
            <a:ext cx="10987768" cy="300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22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13ADB-B46E-E176-90FB-FF9AFCC9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C2E67-CF33-8B2E-FB7D-5768C2BA3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71379-442E-4F46-AA0E-A9379322E2D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978CCB71-477B-CA59-5A31-A984E240DCF6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9" y="1614198"/>
            <a:ext cx="10410756" cy="4019686"/>
          </a:xfrm>
        </p:spPr>
        <p:txBody>
          <a:bodyPr/>
          <a:lstStyle/>
          <a:p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FB192-C081-9E45-1B3E-FB61EEC4BB0A}"/>
              </a:ext>
            </a:extLst>
          </p:cNvPr>
          <p:cNvSpPr txBox="1"/>
          <p:nvPr/>
        </p:nvSpPr>
        <p:spPr>
          <a:xfrm>
            <a:off x="721059" y="1431256"/>
            <a:ext cx="933586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3. PCA-Based PSF Subtraction (Residual Image)</a:t>
            </a:r>
          </a:p>
          <a:p>
            <a:pPr marL="342900" indent="-342900">
              <a:buAutoNum type="arabicPeriod"/>
            </a:pPr>
            <a:endParaRPr lang="en-US" dirty="0">
              <a:latin typeface="Abadi"/>
              <a:ea typeface="微软雅黑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PCA removes dominant PSF components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Speckle noise strongly reduced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Planet-like signal begins to appear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Using 10–20 principal components (optimal)</a:t>
            </a: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1C9F615B-1932-47A5-FF3D-95EF1B4E2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collage of images of a planet&#10;&#10;AI-generated content may be incorrect.">
            <a:extLst>
              <a:ext uri="{FF2B5EF4-FFF2-40B4-BE49-F238E27FC236}">
                <a16:creationId xmlns:a16="http://schemas.microsoft.com/office/drawing/2014/main" id="{E6C9DA4B-D99B-6BD9-7426-CA9A3BD92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369" y="1251857"/>
            <a:ext cx="5557546" cy="496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25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C4F2F-5467-1A3A-991E-59DC1EF9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16D929-DEF1-9D00-26A3-33D778DD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11C1C-71A0-4E6D-5A58-E224A824870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17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76A14838-4CE0-E1C1-D45D-70A643A8053D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9" y="1614198"/>
            <a:ext cx="10410756" cy="4019686"/>
          </a:xfrm>
        </p:spPr>
        <p:txBody>
          <a:bodyPr/>
          <a:lstStyle/>
          <a:p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0CA2E-7799-11F9-E99A-9CA97CB9D854}"/>
              </a:ext>
            </a:extLst>
          </p:cNvPr>
          <p:cNvSpPr txBox="1"/>
          <p:nvPr/>
        </p:nvSpPr>
        <p:spPr>
          <a:xfrm>
            <a:off x="721059" y="1431256"/>
            <a:ext cx="933586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4. NMF-Based Speckle Suppression (Residual Image)</a:t>
            </a:r>
            <a:endParaRPr lang="en-US" dirty="0"/>
          </a:p>
          <a:p>
            <a:pPr marL="342900" indent="-342900">
              <a:buAutoNum type="arabicPeriod"/>
            </a:pPr>
            <a:endParaRPr lang="en-US" dirty="0">
              <a:latin typeface="Abadi"/>
              <a:ea typeface="微软雅黑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NMF preserves flux better than PCA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negative components → fewer artifacts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Sharp residual structures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Suitable for small angular separation planets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1A2876AC-E654-46CD-859E-943C9F71F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6707DC-495C-1581-794D-826DA039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124" y="3144611"/>
            <a:ext cx="8376558" cy="325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23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AC122-80C3-06DE-E4BB-D5782125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7F36ED-EB82-5676-C7C1-76B843445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DD815-69B0-36DF-896E-8FA7417E470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9A0A34A2-0A5F-EACC-942D-3A708B95C541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9" y="1614198"/>
            <a:ext cx="10410756" cy="4019686"/>
          </a:xfrm>
        </p:spPr>
        <p:txBody>
          <a:bodyPr/>
          <a:lstStyle/>
          <a:p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5B19C1-6FD4-87CE-5263-25E5457A5847}"/>
              </a:ext>
            </a:extLst>
          </p:cNvPr>
          <p:cNvSpPr txBox="1"/>
          <p:nvPr/>
        </p:nvSpPr>
        <p:spPr>
          <a:xfrm>
            <a:off x="721059" y="1431256"/>
            <a:ext cx="933586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5. </a:t>
            </a:r>
            <a:r>
              <a:rPr lang="en-US" dirty="0">
                <a:ea typeface="+mn-lt"/>
                <a:cs typeface="+mn-lt"/>
              </a:rPr>
              <a:t>Signal-to-Noise Ratio Map After PSF Subtraction</a:t>
            </a:r>
            <a:endParaRPr lang="en-US" dirty="0"/>
          </a:p>
          <a:p>
            <a:pPr marL="342900" indent="-342900">
              <a:buAutoNum type="arabicPeriod"/>
            </a:pPr>
            <a:endParaRPr lang="en-US" dirty="0">
              <a:latin typeface="Abadi"/>
              <a:ea typeface="微软雅黑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Computes local noise in annular regions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Highlights statistically significant detections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 clear SNR peak (&gt;8) indicates likely exoplanet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Secondary peaks are residual speckles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FC06592D-A059-EE56-9A03-9983CC052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ue square with numbers and circles&#10;&#10;AI-generated content may be incorrect.">
            <a:extLst>
              <a:ext uri="{FF2B5EF4-FFF2-40B4-BE49-F238E27FC236}">
                <a16:creationId xmlns:a16="http://schemas.microsoft.com/office/drawing/2014/main" id="{D47F23CF-047C-5F5C-98D9-1B55FA074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964" y="1433513"/>
            <a:ext cx="5742215" cy="509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23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5377C-9BF2-9FBF-0032-C25CECDE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B8E806-E104-EF68-B8E9-721DE696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B60-E942-0E46-F36C-E1BEE97D275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19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11A97208-7FD4-3300-F69D-20EABEFB33EC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9" y="1614198"/>
            <a:ext cx="10410756" cy="4019686"/>
          </a:xfrm>
        </p:spPr>
        <p:txBody>
          <a:bodyPr/>
          <a:lstStyle/>
          <a:p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3B9D7-18FC-CFD5-D93E-B0CE5B519076}"/>
              </a:ext>
            </a:extLst>
          </p:cNvPr>
          <p:cNvSpPr txBox="1"/>
          <p:nvPr/>
        </p:nvSpPr>
        <p:spPr>
          <a:xfrm>
            <a:off x="721059" y="1431256"/>
            <a:ext cx="933586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6. </a:t>
            </a:r>
            <a:r>
              <a:rPr lang="en-US" dirty="0">
                <a:ea typeface="+mn-lt"/>
                <a:cs typeface="+mn-lt"/>
              </a:rPr>
              <a:t>PCA Stability: SNR vs Number of Principal Components</a:t>
            </a:r>
            <a:endParaRPr lang="en-US" dirty="0"/>
          </a:p>
          <a:p>
            <a:pPr marL="342900" indent="-342900">
              <a:buAutoNum type="arabicPeriod"/>
            </a:pPr>
            <a:endParaRPr lang="en-US" dirty="0">
              <a:latin typeface="Abadi"/>
              <a:ea typeface="微软雅黑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SNR increases until ~16 PCs, then decreases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Too few PCs → speckle remains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Too many PCs → real planet is subtracted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Optimal range: </a:t>
            </a:r>
            <a:r>
              <a:rPr lang="en-US" b="1" dirty="0">
                <a:ea typeface="+mn-lt"/>
                <a:cs typeface="+mn-lt"/>
              </a:rPr>
              <a:t>12–18 PCs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45017BA5-D9CB-6110-7814-263737B15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graph of a line and a line graph&#10;&#10;AI-generated content may be incorrect.">
            <a:extLst>
              <a:ext uri="{FF2B5EF4-FFF2-40B4-BE49-F238E27FC236}">
                <a16:creationId xmlns:a16="http://schemas.microsoft.com/office/drawing/2014/main" id="{731F7369-33A7-1C2A-9AFB-4863337AB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027" y="1925411"/>
            <a:ext cx="66198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07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9DD5-E122-661B-9B5A-307F98D2C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EAC33E-2C59-ACD0-3554-5EFBFC58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00825-F2D4-3319-58D0-D19D2D8D29B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20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1C3B6BEF-13B8-EDAF-8BB5-3E9E6FC787BE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9" y="1614198"/>
            <a:ext cx="10410756" cy="4019686"/>
          </a:xfrm>
        </p:spPr>
        <p:txBody>
          <a:bodyPr/>
          <a:lstStyle/>
          <a:p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4E49B8-FF4A-26E2-A9C6-43AF2920C2DE}"/>
              </a:ext>
            </a:extLst>
          </p:cNvPr>
          <p:cNvSpPr txBox="1"/>
          <p:nvPr/>
        </p:nvSpPr>
        <p:spPr>
          <a:xfrm>
            <a:off x="721059" y="1431256"/>
            <a:ext cx="933586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7. </a:t>
            </a:r>
            <a:r>
              <a:rPr lang="en-US" dirty="0">
                <a:ea typeface="+mn-lt"/>
                <a:cs typeface="+mn-lt"/>
              </a:rPr>
              <a:t>Detection Sensitivity Using 5σ Contrast Curves</a:t>
            </a:r>
            <a:endParaRPr lang="en-US" dirty="0"/>
          </a:p>
          <a:p>
            <a:pPr marL="342900" indent="-342900">
              <a:buAutoNum type="arabicPeriod"/>
            </a:pPr>
            <a:endParaRPr lang="en-US" dirty="0">
              <a:latin typeface="Abadi"/>
              <a:ea typeface="微软雅黑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Contrast improves rapidly with angular separation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Below 0.3 arcsec → dominated by speckles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Beyond 0.8 arcsec → very high sensitivity (~10⁻⁴)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Student-t correction improves accuracy in inner region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303F4103-7D26-4F28-2F91-01DA7CD22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graph of a line&#10;&#10;AI-generated content may be incorrect.">
            <a:extLst>
              <a:ext uri="{FF2B5EF4-FFF2-40B4-BE49-F238E27FC236}">
                <a16:creationId xmlns:a16="http://schemas.microsoft.com/office/drawing/2014/main" id="{689DF93E-CA61-0273-A9DA-CDACA16F9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335" y="1832882"/>
            <a:ext cx="5384347" cy="357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99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E04B-E74E-C806-56AB-E080EE3B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021EDD-2C6E-CB58-6028-7A7A09D1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75B27-75E1-C00D-D9D5-933D755D157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21</a:t>
            </a:fld>
            <a:endParaRPr lang="en-US" altLang="zh-CN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E951146F-F4BC-3273-B100-105C506A68F7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581709" y="1614198"/>
            <a:ext cx="10410756" cy="4019686"/>
          </a:xfrm>
        </p:spPr>
        <p:txBody>
          <a:bodyPr/>
          <a:lstStyle/>
          <a:p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21CF6-246D-4BDB-F7A2-1E0F5DB78E12}"/>
              </a:ext>
            </a:extLst>
          </p:cNvPr>
          <p:cNvSpPr txBox="1"/>
          <p:nvPr/>
        </p:nvSpPr>
        <p:spPr>
          <a:xfrm>
            <a:off x="721059" y="1431256"/>
            <a:ext cx="5777593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8. </a:t>
            </a:r>
            <a:r>
              <a:rPr lang="en-US" dirty="0">
                <a:ea typeface="+mn-lt"/>
                <a:cs typeface="+mn-lt"/>
              </a:rPr>
              <a:t>PCA vs NMF Summary</a:t>
            </a:r>
            <a:endParaRPr lang="en-US" dirty="0"/>
          </a:p>
          <a:p>
            <a:pPr marL="342900" indent="-342900">
              <a:buAutoNum type="arabicPeriod"/>
            </a:pPr>
            <a:endParaRPr lang="en-US" dirty="0">
              <a:latin typeface="Abadi"/>
              <a:ea typeface="微软雅黑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PCA:</a:t>
            </a:r>
            <a:r>
              <a:rPr lang="en-US" dirty="0">
                <a:ea typeface="+mn-lt"/>
                <a:cs typeface="+mn-lt"/>
              </a:rPr>
              <a:t> Best speckle suppression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NMF:</a:t>
            </a:r>
            <a:r>
              <a:rPr lang="en-US" dirty="0">
                <a:ea typeface="+mn-lt"/>
                <a:cs typeface="+mn-lt"/>
              </a:rPr>
              <a:t> Best flux retention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Together:</a:t>
            </a:r>
            <a:r>
              <a:rPr lang="en-US" dirty="0">
                <a:ea typeface="+mn-lt"/>
                <a:cs typeface="+mn-lt"/>
              </a:rPr>
              <a:t> Complementary strengths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PCA excels at large separations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NMF excels near the star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 real, directly imaged exoplanet orbiting Beta </a:t>
            </a:r>
            <a:r>
              <a:rPr lang="en-US" dirty="0" err="1">
                <a:ea typeface="+mn-lt"/>
                <a:cs typeface="+mn-lt"/>
              </a:rPr>
              <a:t>Pictoris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Used as a benchmark target in high-contrast imaging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Appears at ~0.4 arcsec separation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Shown on contrast curves to validate algorithm performance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2" descr="Amrita Vishwa Vidyapeetham - Wikipedia">
            <a:extLst>
              <a:ext uri="{FF2B5EF4-FFF2-40B4-BE49-F238E27FC236}">
                <a16:creationId xmlns:a16="http://schemas.microsoft.com/office/drawing/2014/main" id="{2D94BEFE-AFB7-644B-B87E-79856AE53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graph of a line&#10;&#10;AI-generated content may be incorrect.">
            <a:extLst>
              <a:ext uri="{FF2B5EF4-FFF2-40B4-BE49-F238E27FC236}">
                <a16:creationId xmlns:a16="http://schemas.microsoft.com/office/drawing/2014/main" id="{E22CB490-97DB-8CBF-A00B-2C9893D4C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335" y="1615167"/>
            <a:ext cx="5384347" cy="357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76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CONCLUSION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80DBD-4F0A-774B-EB6E-BE917EAF827E}"/>
              </a:ext>
            </a:extLst>
          </p:cNvPr>
          <p:cNvSpPr txBox="1"/>
          <p:nvPr/>
        </p:nvSpPr>
        <p:spPr>
          <a:xfrm>
            <a:off x="581709" y="1803627"/>
            <a:ext cx="9545404" cy="26407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defTabSz="457200">
              <a:buFont typeface="Arial"/>
              <a:buChar char="•"/>
              <a:defRPr/>
            </a:pPr>
            <a:r>
              <a:rPr lang="en-US" b="1" dirty="0">
                <a:solidFill>
                  <a:srgbClr val="374151"/>
                </a:solidFill>
                <a:ea typeface="+mn-lt"/>
                <a:cs typeface="+mn-lt"/>
              </a:rPr>
              <a:t>PCA and NMF significantly enhance exoplanet visibility</a:t>
            </a: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 by reducing stellar PSF noise.</a:t>
            </a:r>
            <a:endParaRPr lang="en-US" dirty="0"/>
          </a:p>
          <a:p>
            <a:pPr marL="285750" indent="-285750" defTabSz="457200">
              <a:buFont typeface="Arial"/>
              <a:buChar char="•"/>
              <a:defRPr/>
            </a:pPr>
            <a:r>
              <a:rPr lang="en-US" b="1" dirty="0">
                <a:solidFill>
                  <a:srgbClr val="374151"/>
                </a:solidFill>
                <a:ea typeface="+mn-lt"/>
                <a:cs typeface="+mn-lt"/>
              </a:rPr>
              <a:t>PCA provides superior speckle suppression</a:t>
            </a: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, especially at larger angular separations.</a:t>
            </a:r>
            <a:endParaRPr lang="en-US" dirty="0"/>
          </a:p>
          <a:p>
            <a:pPr marL="285750" indent="-285750" defTabSz="457200">
              <a:buFont typeface="Arial"/>
              <a:buChar char="•"/>
              <a:defRPr/>
            </a:pPr>
            <a:r>
              <a:rPr lang="en-US" b="1" dirty="0">
                <a:solidFill>
                  <a:srgbClr val="374151"/>
                </a:solidFill>
                <a:ea typeface="+mn-lt"/>
                <a:cs typeface="+mn-lt"/>
              </a:rPr>
              <a:t>NMF preserves planet flux more effectively</a:t>
            </a: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, making it ideal near the star.</a:t>
            </a:r>
            <a:endParaRPr lang="en-US" dirty="0"/>
          </a:p>
          <a:p>
            <a:pPr marL="285750" indent="-285750" defTabSz="457200">
              <a:buFont typeface="Arial"/>
              <a:buChar char="•"/>
              <a:defRPr/>
            </a:pPr>
            <a:r>
              <a:rPr lang="en-US" b="1" dirty="0">
                <a:solidFill>
                  <a:srgbClr val="374151"/>
                </a:solidFill>
                <a:ea typeface="+mn-lt"/>
                <a:cs typeface="+mn-lt"/>
              </a:rPr>
              <a:t>Selecting optimal PCA components is crucial</a:t>
            </a: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 to prevent self-subtraction of real signals.</a:t>
            </a:r>
            <a:endParaRPr lang="en-US" dirty="0"/>
          </a:p>
          <a:p>
            <a:pPr marL="285750" indent="-285750" defTabSz="457200">
              <a:buFont typeface="Arial"/>
              <a:buChar char="•"/>
              <a:defRPr/>
            </a:pPr>
            <a:r>
              <a:rPr lang="en-US" b="1" dirty="0">
                <a:solidFill>
                  <a:srgbClr val="374151"/>
                </a:solidFill>
                <a:ea typeface="+mn-lt"/>
                <a:cs typeface="+mn-lt"/>
              </a:rPr>
              <a:t>5σ contrast curves confirm strong detection sensitivity</a:t>
            </a: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 across multiple separations.</a:t>
            </a:r>
            <a:endParaRPr lang="en-US" dirty="0"/>
          </a:p>
          <a:p>
            <a:pPr marL="285750" indent="-285750" defTabSz="457200">
              <a:buFont typeface="Arial"/>
              <a:buChar char="•"/>
              <a:defRPr/>
            </a:pPr>
            <a:r>
              <a:rPr lang="en-US" b="1" dirty="0">
                <a:solidFill>
                  <a:srgbClr val="374151"/>
                </a:solidFill>
                <a:ea typeface="+mn-lt"/>
                <a:cs typeface="+mn-lt"/>
              </a:rPr>
              <a:t>A combined PCA–NMF framework delivers a robust, efficient pipeline</a:t>
            </a: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 for exoplanet detection.</a:t>
            </a:r>
            <a:endParaRPr lang="en-US" dirty="0"/>
          </a:p>
          <a:p>
            <a:pPr defTabSz="457200">
              <a:defRPr/>
            </a:pPr>
            <a:endParaRPr lang="en-US" b="1" dirty="0">
              <a:solidFill>
                <a:srgbClr val="374151"/>
              </a:solidFill>
              <a:latin typeface="Times New Roman"/>
              <a:cs typeface="Times New Roman"/>
            </a:endParaRPr>
          </a:p>
          <a:p>
            <a:pPr marR="0" lvl="0" algn="l" defTabSz="45720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Wingdings 2" panose="05020102010507070707" pitchFamily="18" charset="2"/>
              <a:tabLst/>
              <a:defRPr/>
            </a:pP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Amrita Vishwa Vidyapeetham - Wikipedia">
            <a:extLst>
              <a:ext uri="{FF2B5EF4-FFF2-40B4-BE49-F238E27FC236}">
                <a16:creationId xmlns:a16="http://schemas.microsoft.com/office/drawing/2014/main" id="{154F1085-8343-E4AB-0671-7E663446A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3A49-F867-4247-607A-453928CE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4FB62B-C0B9-2795-5590-621595B2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B271D-90A6-60A7-7781-37A997ABF55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23</a:t>
            </a:fld>
            <a:endParaRPr lang="en-US" altLang="zh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74948-C7C5-7831-CC93-3F06F942323D}"/>
              </a:ext>
            </a:extLst>
          </p:cNvPr>
          <p:cNvSpPr txBox="1"/>
          <p:nvPr/>
        </p:nvSpPr>
        <p:spPr>
          <a:xfrm>
            <a:off x="581709" y="1551895"/>
            <a:ext cx="11028582" cy="374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defTabSz="457200">
              <a:buFont typeface="Arial"/>
              <a:buChar char="•"/>
              <a:defRPr/>
            </a:pPr>
            <a:r>
              <a:rPr lang="en-US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Feng, B. Y., Ferrer‑Chávez, R., Levis, A., Wang, J. J., Bouman, K. L., Freeman, W. T. “Exoplanet Imaging via Differentiable Rendering.” IEEE Transactions on Computational Imaging, 11, 2025. DOI: 10.1109/TCI.2025.3525971. </a:t>
            </a:r>
            <a:endParaRPr lang="en-US">
              <a:latin typeface="Times New Roman"/>
              <a:cs typeface="Times New Roman"/>
            </a:endParaRPr>
          </a:p>
          <a:p>
            <a:pPr marL="285750" indent="-285750" defTabSz="457200">
              <a:buFont typeface="Arial"/>
              <a:buChar char="•"/>
              <a:defRPr/>
            </a:pPr>
            <a:r>
              <a:rPr lang="en-US" err="1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Bodrito</a:t>
            </a:r>
            <a:r>
              <a:rPr lang="en-US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, T., </a:t>
            </a:r>
            <a:r>
              <a:rPr lang="en-US" err="1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Flasseur</a:t>
            </a:r>
            <a:r>
              <a:rPr lang="en-US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, O., Mairal, J., Ponce, J., Langlois, M., Lagrange, A.‑M. “MODEL&amp;CO: exoplanet detection in angular differential imaging by learning across multiple observations.” MNRAS 534, 1569–1596, 2024. </a:t>
            </a:r>
            <a:endParaRPr lang="en-US">
              <a:latin typeface="Times New Roman"/>
              <a:cs typeface="Times New Roman"/>
            </a:endParaRPr>
          </a:p>
          <a:p>
            <a:pPr marL="285750" indent="-285750" defTabSz="457200">
              <a:buFont typeface="Arial"/>
              <a:buChar char="•"/>
              <a:defRPr/>
            </a:pPr>
            <a:r>
              <a:rPr lang="en-US" err="1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Ishvarya</a:t>
            </a:r>
            <a:r>
              <a:rPr lang="en-US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 G., </a:t>
            </a:r>
            <a:r>
              <a:rPr lang="en-US" err="1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Kammari</a:t>
            </a:r>
            <a:r>
              <a:rPr lang="en-US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, K. S., Thambi, S. V., Venugopalan, M. “Enhanced Classification of Exoplanets Using Machine Learning: Integrating Feature Selection, Ensemble Algorithms, and Explainable AI Insights.” 15th IEEE ICCCNT, 2024. </a:t>
            </a:r>
            <a:endParaRPr lang="en-US">
              <a:latin typeface="Times New Roman"/>
              <a:cs typeface="Times New Roman"/>
            </a:endParaRPr>
          </a:p>
          <a:p>
            <a:pPr marL="285750" indent="-285750" defTabSz="457200">
              <a:buFont typeface="Arial"/>
              <a:buChar char="•"/>
              <a:defRPr/>
            </a:pPr>
            <a:r>
              <a:rPr lang="en-US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Prasad, M. S., Verma, S., </a:t>
            </a:r>
            <a:r>
              <a:rPr lang="en-US" err="1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Shichkina</a:t>
            </a:r>
            <a:r>
              <a:rPr lang="en-US">
                <a:solidFill>
                  <a:srgbClr val="374151"/>
                </a:solidFill>
                <a:latin typeface="Times New Roman"/>
                <a:ea typeface="+mn-lt"/>
                <a:cs typeface="+mn-lt"/>
              </a:rPr>
              <a:t>, Y. A. “Astronomical Image Processing: Exoplanet Detection.” 2023 XXVI IEEE SCM, DOI: 10.1109/SCM58628.2023.10159069. </a:t>
            </a:r>
            <a:endParaRPr lang="en-US">
              <a:latin typeface="Times New Roman"/>
            </a:endParaRPr>
          </a:p>
          <a:p>
            <a:pPr defTabSz="457200">
              <a:defRPr/>
            </a:pPr>
            <a:endParaRPr lang="en-US" b="1">
              <a:solidFill>
                <a:srgbClr val="374151"/>
              </a:solidFill>
              <a:latin typeface="Times New Roman"/>
              <a:cs typeface="Times New Roman"/>
            </a:endParaRPr>
          </a:p>
          <a:p>
            <a:pPr marR="0" lvl="0" algn="l" defTabSz="45720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Wingdings 2" panose="05020102010507070707" pitchFamily="18" charset="2"/>
              <a:tabLst/>
              <a:defRPr/>
            </a:pP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Amrita Vishwa Vidyapeetham - Wikipedia">
            <a:extLst>
              <a:ext uri="{FF2B5EF4-FFF2-40B4-BE49-F238E27FC236}">
                <a16:creationId xmlns:a16="http://schemas.microsoft.com/office/drawing/2014/main" id="{E7C154C1-E949-8EED-877E-4443042E4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43" y="-2590"/>
            <a:ext cx="2302329" cy="86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788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45" y="2460622"/>
            <a:ext cx="6361472" cy="1354294"/>
          </a:xfrm>
        </p:spPr>
        <p:txBody>
          <a:bodyPr/>
          <a:lstStyle/>
          <a:p>
            <a:r>
              <a:rPr lang="en-US"/>
              <a:t> </a:t>
            </a:r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</a:rPr>
              <a:t>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2" id="{B26A33D9-FFCB-4ED6-B4AB-FC6D926F2C9B}" vid="{E524B525-FC78-42BD-A524-ADAA5DA2013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4A340C-B0BF-43E0-A229-814A94A81014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22F1DCC4-4507-47A8-9B54-80E1D067DB10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50785ED-3BE2-42D8-A435-1D30AAB164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24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主题​​</vt:lpstr>
      <vt:lpstr>PowerPoint Presentation</vt:lpstr>
      <vt:lpstr>INTRODUCTION</vt:lpstr>
      <vt:lpstr>PROBLEM STATEMENT</vt:lpstr>
      <vt:lpstr>OBJECTIVE</vt:lpstr>
      <vt:lpstr>LITERATURE Survey </vt:lpstr>
      <vt:lpstr>LITERATURE Survey</vt:lpstr>
      <vt:lpstr>What Past Studies Missed vs What We Do ?</vt:lpstr>
      <vt:lpstr>System Overview</vt:lpstr>
      <vt:lpstr>Mathematical Model</vt:lpstr>
      <vt:lpstr>Mathematical Model</vt:lpstr>
      <vt:lpstr>Methodology </vt:lpstr>
      <vt:lpstr>Methodology </vt:lpstr>
      <vt:lpstr>DATA SET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CONCLUSION</vt:lpstr>
      <vt:lpstr>REFERENCES</vt:lpstr>
      <vt:lpstr>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Bhavana</dc:creator>
  <cp:revision>201</cp:revision>
  <dcterms:created xsi:type="dcterms:W3CDTF">2023-08-18T12:24:03Z</dcterms:created>
  <dcterms:modified xsi:type="dcterms:W3CDTF">2025-12-04T19:34:05Z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